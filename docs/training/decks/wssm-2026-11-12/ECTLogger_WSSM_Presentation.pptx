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Public Sans" pitchFamily="34" charset="0"/>
      <p:regular r:id="rId30"/>
      <p:bold r:id="rId31"/>
    </p:embeddedFont>
    <p:embeddedFont>
      <p:font typeface="Oswald" pitchFamily="34" charset="0"/>
      <p:regular r:id="rId32"/>
      <p:bold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thanks for coming out tonight, whether you’re here in the bunker or joining online. If you have a phone or laptop handy, keep it out: we’ll be checking into a live net together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bit about me. I’m Brad, KC1JMH, from Waterboro. I’m the WSSM club secretary, so you’ve probably heard me reading the minutes on the 147.09 repeater. I’m also the ARES Coordinator for Cumberland County, working with the WSSM Emergency Communications Team, which meets right here in the CCEMA bunker on the fourth Thursday. By day I’m a systems administrator. [Your story: what got you started building ECTLogger.]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ECTLogger is a real-time net logger. Net control logs a station, and everybody watching the net sees it at the same moment: who’s checked in, who has traffic, who stepped away. It runs in a web browser, so there’s nothing to install, and when the net closes, the report, the ICS-309 and the log email are ready to go. It’s free and open source, MIT licensed, and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things stand, straight from the Stats page. Since the first net in December 2025, we’ve logged 123 nets and about 1,500 check-ins from 330 different operators. Net control can log a station that has no account, which is why there are more operators than accounts. In the last 30 days alone, that’s 29 nets, nearly 500 check-ins, and 69 operators who had never checked in before. [Refresh these numbers from the Stats page the day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busiest nets on the Stats page over the last 30 days. Our own SET in October put 74 check-ins into a single net, which was a great real-world test. The other nets on the list are clubs and ARES groups around New England, and a lot of the improvements you’ll see tonight came from their feedback. [Refresh this table from the Stats page the day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tonight. We’ll start with checking into a net, which is all most people ever need. Then running a club net, from the schedule to the log in your inbox. And last, the bigger multi-frequency, multi-mode nets that ARES and SKYWARN teams run. Each part ends with a live demo on the real site, so grab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joining a net as a participant.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in is easy. Go to app.ectlogger.us, type your email address, and we’ll send you a link. Click it and you’re signed in, with no password to remember. You can set one up later in your profile if you’d rather. The Nets page shows what’s on the air right now and what’s coming up. If there’s a net you check into every week, star its schedule and it stays at the top of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in, open the net and press Check in, or just answer the prompt that pops up when you arrive. Once you’re on the list, you can raise your hand to get net control’s attention, step away for a few minutes, or mark yourself as just listening if you’re only monitoring. When you’re done, press Check out, and your row greys out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runs right beside the net. You can reply to a message, @mention a station that’s checked in, or paste in a picture. If someone’s getting chatty, you can mute them, and that only changes your own view. Put an address, grid square or coordinates in Location and you’ll show up on the net’s map. The Schedule page has a calendar of every net coming up, and if you subscribe to one, you’ll get an email reminder before each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time! Everyone with a phone, scan the code or type in app.ectlogger.us. Sign in with your email; the link usually shows up within a minute. Then open [demo net name] and press Check in. Once you’re on, try raising your hand, and watch it show up on the big screen. On my screen: show the list filling in live, a raised hand, Step away, and the map. [Before the talk: create the demo net and open its lobby so it’s on the Nets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running a club net, from setting up the schedule to the log in your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weekly club net, you set up a recurring schedule once, and ECTLogger creates each net for you ahead of time with its frequencies, script and settings. Add your net staff and an NCS rotation, and everyone can see whose week it is. If someone can’t make it, swapping is a couple of clicks. Reminder emails go to the NCS on duty and to anyone who subscribed. And if a net is just a one-time thing, the + button on the Nets page sets it up in about a minute. A new account needs to be around for a bit, and check into a net or two, before it can create one. Just ask me if you need that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it’s time, Open lobby lets stations gather and check themselves in before the net begins, and Start net kicks it off. They’re two separate buttons. If you’re on the net’s staff, check in as NCS or as Logger and the desk is yours. A net can have more than one NCS, and stepping away hands off cleanly. For stations calling in on the air, type the callsign and details and press Enter. If a bunch come in at once, Bulk add takes the whole list in one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net’s done, Close net stops check-ins and chat. You can send the log right away, or choose Finish the log later if you still have offline logs or paper notes to add. The log isn’t emailed until you say it’s ready. Afterward, the report and the ICS-309 are one click each, and the report leads with your net’s own logo. The Stats page shows how turnout is trending and who your regulars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run the demo net for real. I’ll start it from the lobby you’re already in, then log a few of you by voice, the way I would on the repeater. [Pick a volunteer] will take the Logger role from Roles so you can see two people working the same list. Then I’ll close the net and we’ll look at the report and the ICS-309 together. [Before the talk: make sure the volunteer has an account and is checked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bigger nets. Several frequencies and modes, several net control desks, all logging into one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ARES or SKYWARN net often runs on more than one frequency or mode at once: the repeater, a simplex frequency, a DMR talkgroup, maybe HF. In ECTLogger, that’s still one net. Each frequency is a chip in the header, and each NCS clicks the one they’re working to claim it. Their color follows them into the check-in list. We do support multiple NCS covering different repeaters or modes, all logged to the same net, event or incident. A Relay can check in the stations net control can’t hear directly. And if you have a second monitor, you can pop the check-in list, chat or map out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simplex drill, the big question is who can hear whom without the repeater. Stations press I hear and pick the stations they can copy. The Station Coverage panel works out which paths are one-way and which are two-way as the reports come in, and it can show them on the map. For an exercise like the SET, you can also set up sites, like shelters and the EOC, check stations in at a site, and see at a glance which sites are staffed and which can reach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tools for exercises and real events. Traffic handles formal ICS-213 messages. The off-net log records contacts a station made away from the net, like a Winlink message, so they still land on the ICS-309. Admins can add the check-in fields your team needs, like a SKYWARN spotter number or a weather report. Authenticated nets let net control confirm a station is who they say they are, using the code from their authenticator app. Drill plans let you lay out the exercise and prepare its messages ahead of time. And if a net ever gets unruly, net control can mute a station’s chat for everyone, or remove and block a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last demo, [second NCS volunteer] will check in as a second NCS. I’ll claim the repeater and they’ll claim simplex, and you’ll see our colors follow us down the list. Then everyone press I hear and pick a few stations you can hear in the room, and we’ll watch the Station Coverage panel fill in. [Before the talk: give the demo net two frequencies, turn on station coverage, and add the volunteer to its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covered tonight is in the Help menu. The User Guide has step-by-step pages for operators, net control, net managers and admins. Help, Training lists upcoming sessions like this one, and the training videos will be on the YouTube channel. Start Walkthrough gives you a quick tour any time. And if you find a bug or have an idea, Submit Feedback comes straight to me. A lot of what you saw tonight started as someone’s feedback, so please send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everything I had. Thanks so much for coming out tonight, and for everyone online, thanks for joining us. I’m happy to take any questions, and if something comes up later, Submit Feedback in the Help menu reaches me directly.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02274"/>
            <a:ext cx="10566436" cy="502904"/>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latin typeface="Oswald" charset="0"/>
              <a:ea typeface="Oswald" charset="0"/>
              <a:cs typeface="Oswald" charset="0"/>
            </a:endParaRPr>
          </a:p>
        </p:txBody>
      </p:sp>
      <p:sp>
        <p:nvSpPr>
          <p:cNvPr id="3" name="Text Placeholder 2"/>
          <p:cNvSpPr/>
          <p:nvPr>
            <p:ph idx="101" type="body"/>
          </p:nvPr>
        </p:nvSpPr>
        <p:spPr>
          <a:xfrm>
            <a:off x="812782" y="1909978"/>
            <a:ext cx="10566418" cy="41352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latin typeface="Public Sans" charset="0"/>
              <a:ea typeface="Public Sans" charset="0"/>
              <a:cs typeface="Public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02274"/>
            <a:ext cx="10566436" cy="502904"/>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latin typeface="Oswald" charset="0"/>
              <a:ea typeface="Oswald" charset="0"/>
              <a:cs typeface="Oswald" charset="0"/>
            </a:endParaRPr>
          </a:p>
        </p:txBody>
      </p:sp>
      <p:sp>
        <p:nvSpPr>
          <p:cNvPr id="3" name="Text Placeholder 2"/>
          <p:cNvSpPr/>
          <p:nvPr>
            <p:ph idx="101" type="body"/>
          </p:nvPr>
        </p:nvSpPr>
        <p:spPr>
          <a:xfrm>
            <a:off x="812782" y="1909978"/>
            <a:ext cx="10566418" cy="41352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latin typeface="Public Sans" charset="0"/>
              <a:ea typeface="Public Sans" charset="0"/>
              <a:cs typeface="Public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391" cy="6858000"/>
          </a:xfrm>
          <a:prstGeom prst="rect">
            <a:avLst/>
          </a:prstGeom>
          <a:solidFill>
            <a:srgbClr val="1E88E5"/>
          </a:solidFill>
          <a:ln/>
        </p:spPr>
      </p:sp>
      <p:pic>
        <p:nvPicPr>
          <p:cNvPr id="3" name="Image 0" descr="ECTLogger logo">    </p:cNvPr>
          <p:cNvPicPr>
            <a:picLocks noChangeAspect="1"/>
          </p:cNvPicPr>
          <p:nvPr/>
        </p:nvPicPr>
        <p:blipFill>
          <a:blip r:embed="rId1"/>
          <a:srcRect l="-1" r="-1" t="0" b="0"/>
          <a:stretch/>
        </p:blipFill>
        <p:spPr>
          <a:xfrm>
            <a:off x="812782" y="812782"/>
            <a:ext cx="4064000" cy="996923"/>
          </a:xfrm>
          <a:prstGeom prst="rect">
            <a:avLst/>
          </a:prstGeom>
        </p:spPr>
      </p:pic>
      <p:sp>
        <p:nvSpPr>
          <p:cNvPr id="4" name="Text 1"/>
          <p:cNvSpPr/>
          <p:nvPr>
            <p:ph type="title"/>
          </p:nvPr>
        </p:nvSpPr>
        <p:spPr>
          <a:xfrm>
            <a:off x="812782" y="3102029"/>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Oswald" pitchFamily="34" charset="0"/>
                <a:ea typeface="Oswald" pitchFamily="34" charset="-122"/>
                <a:cs typeface="Oswald" pitchFamily="34" charset="-120"/>
              </a:rPr>
              <a:t>Running nets with ECTLogger</a:t>
            </a:r>
            <a:endParaRPr lang="en-US" sz="6000" dirty="0">
              <a:latin typeface="Oswald" charset="0"/>
              <a:ea typeface="Oswald" charset="0"/>
              <a:cs typeface="Oswald" charset="0"/>
            </a:endParaRPr>
          </a:p>
        </p:txBody>
      </p:sp>
      <p:sp>
        <p:nvSpPr>
          <p:cNvPr id="5" name="Text 2"/>
          <p:cNvSpPr/>
          <p:nvPr/>
        </p:nvSpPr>
        <p:spPr>
          <a:xfrm>
            <a:off x="812782" y="4105266"/>
            <a:ext cx="10883429" cy="38858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5E3"/>
                </a:solidFill>
                <a:latin typeface="Public Sans" pitchFamily="34" charset="0"/>
                <a:ea typeface="Public Sans" pitchFamily="34" charset="-122"/>
                <a:cs typeface="Public Sans" pitchFamily="34" charset="-120"/>
              </a:rPr>
              <a:t>From your first check-in to a multi-frequency ARES net</a:t>
            </a:r>
            <a:endParaRPr lang="en-US" sz="2200" dirty="0">
              <a:latin typeface="Public Sans" charset="0"/>
              <a:ea typeface="Public Sans" charset="0"/>
              <a:cs typeface="Public Sans" charset="0"/>
            </a:endParaRPr>
          </a:p>
        </p:txBody>
      </p:sp>
      <p:sp>
        <p:nvSpPr>
          <p:cNvPr id="6" name="Text 3"/>
          <p:cNvSpPr/>
          <p:nvPr/>
        </p:nvSpPr>
        <p:spPr>
          <a:xfrm>
            <a:off x="812782" y="5760731"/>
            <a:ext cx="10883429"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1C7"/>
                </a:solidFill>
                <a:latin typeface="Public Sans" pitchFamily="34" charset="0"/>
                <a:ea typeface="Public Sans" pitchFamily="34" charset="-122"/>
                <a:cs typeface="Public Sans" pitchFamily="34" charset="-120"/>
              </a:rPr>
              <a:t>Wireless Society of Southern Maine · November 12, 2026 · Brad Brown Jr., KC1JMH</a:t>
            </a:r>
            <a:endParaRPr lang="en-US" sz="1600" dirty="0">
              <a:latin typeface="Public Sans" charset="0"/>
              <a:ea typeface="Public Sans" charset="0"/>
              <a:cs typeface="Public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ABOUT ME</a:t>
            </a:r>
            <a:endParaRPr lang="en-US" sz="1200" dirty="0">
              <a:latin typeface="Public Sans" charset="0"/>
              <a:ea typeface="Public Sans" charset="0"/>
              <a:cs typeface="Public Sans" charset="0"/>
            </a:endParaRPr>
          </a:p>
        </p:txBody>
      </p:sp>
      <p:sp>
        <p:nvSpPr>
          <p:cNvPr id="3" name="Text 1"/>
          <p:cNvSpPr/>
          <p:nvPr>
            <p:ph type="title"/>
          </p:nvPr>
        </p:nvSpPr>
        <p:spPr>
          <a:xfrm>
            <a:off x="812782" y="1102275"/>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Hi, I’m Brad, KC1JMH</a:t>
            </a:r>
            <a:endParaRPr lang="en-US" sz="3600" dirty="0">
              <a:latin typeface="Oswald" charset="0"/>
              <a:ea typeface="Oswald" charset="0"/>
              <a:cs typeface="Oswald" charset="0"/>
            </a:endParaRPr>
          </a:p>
        </p:txBody>
      </p:sp>
      <p:sp>
        <p:nvSpPr>
          <p:cNvPr id="4" name="Shape 2"/>
          <p:cNvSpPr/>
          <p:nvPr/>
        </p:nvSpPr>
        <p:spPr>
          <a:xfrm>
            <a:off x="815957" y="1963917"/>
            <a:ext cx="5175259" cy="1236906"/>
          </a:xfrm>
          <a:prstGeom prst="roundRect">
            <a:avLst>
              <a:gd name="adj" fmla="val 7957"/>
            </a:avLst>
          </a:prstGeom>
          <a:solidFill>
            <a:srgbClr val="FCFCFA"/>
          </a:solidFill>
          <a:ln w="6350">
            <a:solidFill>
              <a:srgbClr val="DFE3E8"/>
            </a:solidFill>
            <a:prstDash val="solid"/>
          </a:ln>
        </p:spPr>
      </p:sp>
      <p:sp>
        <p:nvSpPr>
          <p:cNvPr id="5" name="Text 3"/>
          <p:cNvSpPr/>
          <p:nvPr/>
        </p:nvSpPr>
        <p:spPr>
          <a:xfrm>
            <a:off x="1072555" y="2195079"/>
            <a:ext cx="480192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WSSM club secretary</a:t>
            </a:r>
            <a:endParaRPr lang="en-US" sz="1600" dirty="0">
              <a:latin typeface="Public Sans" charset="0"/>
              <a:ea typeface="Public Sans" charset="0"/>
              <a:cs typeface="Public Sans" charset="0"/>
            </a:endParaRPr>
          </a:p>
        </p:txBody>
      </p:sp>
      <p:sp>
        <p:nvSpPr>
          <p:cNvPr id="6" name="Text 4"/>
          <p:cNvSpPr/>
          <p:nvPr/>
        </p:nvSpPr>
        <p:spPr>
          <a:xfrm>
            <a:off x="1072555" y="2489714"/>
            <a:ext cx="4801925"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I take the minutes and read them on 147.09 the Thursday after</a:t>
            </a:r>
            <a:endParaRPr lang="en-US" sz="1400" dirty="0">
              <a:latin typeface="Public Sans" charset="0"/>
              <a:ea typeface="Public Sans" charset="0"/>
              <a:cs typeface="Public Sans" charset="0"/>
            </a:endParaRPr>
          </a:p>
        </p:txBody>
      </p:sp>
      <p:sp>
        <p:nvSpPr>
          <p:cNvPr id="7" name="Shape 5"/>
          <p:cNvSpPr/>
          <p:nvPr/>
        </p:nvSpPr>
        <p:spPr>
          <a:xfrm>
            <a:off x="6200739" y="1963917"/>
            <a:ext cx="5175304" cy="1236906"/>
          </a:xfrm>
          <a:prstGeom prst="roundRect">
            <a:avLst>
              <a:gd name="adj" fmla="val 7957"/>
            </a:avLst>
          </a:prstGeom>
          <a:solidFill>
            <a:srgbClr val="FCFCFA"/>
          </a:solidFill>
          <a:ln w="6350">
            <a:solidFill>
              <a:srgbClr val="DFE3E8"/>
            </a:solidFill>
            <a:prstDash val="solid"/>
          </a:ln>
        </p:spPr>
      </p:sp>
      <p:sp>
        <p:nvSpPr>
          <p:cNvPr id="8" name="Text 6"/>
          <p:cNvSpPr/>
          <p:nvPr/>
        </p:nvSpPr>
        <p:spPr>
          <a:xfrm>
            <a:off x="6457336" y="2195079"/>
            <a:ext cx="4801972"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ARES Coordinator, Cumberland County</a:t>
            </a:r>
            <a:endParaRPr lang="en-US" sz="1600" dirty="0">
              <a:latin typeface="Public Sans" charset="0"/>
              <a:ea typeface="Public Sans" charset="0"/>
              <a:cs typeface="Public Sans" charset="0"/>
            </a:endParaRPr>
          </a:p>
        </p:txBody>
      </p:sp>
      <p:sp>
        <p:nvSpPr>
          <p:cNvPr id="9" name="Text 7"/>
          <p:cNvSpPr/>
          <p:nvPr/>
        </p:nvSpPr>
        <p:spPr>
          <a:xfrm>
            <a:off x="6457336" y="2489714"/>
            <a:ext cx="4801972"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With the WSSM Emergency Communications Team, right here at CCEMA</a:t>
            </a:r>
            <a:endParaRPr lang="en-US" sz="1400" dirty="0">
              <a:latin typeface="Public Sans" charset="0"/>
              <a:ea typeface="Public Sans" charset="0"/>
              <a:cs typeface="Public Sans" charset="0"/>
            </a:endParaRPr>
          </a:p>
        </p:txBody>
      </p:sp>
      <p:sp>
        <p:nvSpPr>
          <p:cNvPr id="10" name="Shape 8"/>
          <p:cNvSpPr/>
          <p:nvPr/>
        </p:nvSpPr>
        <p:spPr>
          <a:xfrm>
            <a:off x="815957" y="3410347"/>
            <a:ext cx="5175259" cy="1236906"/>
          </a:xfrm>
          <a:prstGeom prst="roundRect">
            <a:avLst>
              <a:gd name="adj" fmla="val 7957"/>
            </a:avLst>
          </a:prstGeom>
          <a:solidFill>
            <a:srgbClr val="FCFCFA"/>
          </a:solidFill>
          <a:ln w="6350">
            <a:solidFill>
              <a:srgbClr val="DFE3E8"/>
            </a:solidFill>
            <a:prstDash val="solid"/>
          </a:ln>
        </p:spPr>
      </p:sp>
      <p:sp>
        <p:nvSpPr>
          <p:cNvPr id="11" name="Text 9"/>
          <p:cNvSpPr/>
          <p:nvPr/>
        </p:nvSpPr>
        <p:spPr>
          <a:xfrm>
            <a:off x="1072555" y="3641508"/>
            <a:ext cx="480192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Systems administrator by day</a:t>
            </a:r>
            <a:endParaRPr lang="en-US" sz="1600" dirty="0">
              <a:latin typeface="Public Sans" charset="0"/>
              <a:ea typeface="Public Sans" charset="0"/>
              <a:cs typeface="Public Sans" charset="0"/>
            </a:endParaRPr>
          </a:p>
        </p:txBody>
      </p:sp>
      <p:sp>
        <p:nvSpPr>
          <p:cNvPr id="12" name="Text 10"/>
          <p:cNvSpPr/>
          <p:nvPr/>
        </p:nvSpPr>
        <p:spPr>
          <a:xfrm>
            <a:off x="1072555" y="3936143"/>
            <a:ext cx="4801925"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Servers, networks, and a lot of scripting to make software play nice</a:t>
            </a:r>
            <a:endParaRPr lang="en-US" sz="1400" dirty="0">
              <a:latin typeface="Public Sans" charset="0"/>
              <a:ea typeface="Public Sans" charset="0"/>
              <a:cs typeface="Public Sans" charset="0"/>
            </a:endParaRPr>
          </a:p>
        </p:txBody>
      </p:sp>
      <p:sp>
        <p:nvSpPr>
          <p:cNvPr id="13" name="Shape 11"/>
          <p:cNvSpPr/>
          <p:nvPr/>
        </p:nvSpPr>
        <p:spPr>
          <a:xfrm>
            <a:off x="6200739" y="3410347"/>
            <a:ext cx="5175304" cy="1236906"/>
          </a:xfrm>
          <a:prstGeom prst="roundRect">
            <a:avLst>
              <a:gd name="adj" fmla="val 7957"/>
            </a:avLst>
          </a:prstGeom>
          <a:solidFill>
            <a:srgbClr val="FCFCFA"/>
          </a:solidFill>
          <a:ln w="6350">
            <a:solidFill>
              <a:srgbClr val="DFE3E8"/>
            </a:solidFill>
            <a:prstDash val="solid"/>
          </a:ln>
        </p:spPr>
      </p:sp>
      <p:sp>
        <p:nvSpPr>
          <p:cNvPr id="14" name="Text 12"/>
          <p:cNvSpPr/>
          <p:nvPr/>
        </p:nvSpPr>
        <p:spPr>
          <a:xfrm>
            <a:off x="6457336" y="3641508"/>
            <a:ext cx="4801972"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The person behind ECTLogger</a:t>
            </a:r>
            <a:endParaRPr lang="en-US" sz="1600" dirty="0">
              <a:latin typeface="Public Sans" charset="0"/>
              <a:ea typeface="Public Sans" charset="0"/>
              <a:cs typeface="Public Sans" charset="0"/>
            </a:endParaRPr>
          </a:p>
        </p:txBody>
      </p:sp>
      <p:sp>
        <p:nvSpPr>
          <p:cNvPr id="15" name="Text 13"/>
          <p:cNvSpPr/>
          <p:nvPr/>
        </p:nvSpPr>
        <p:spPr>
          <a:xfrm>
            <a:off x="6457336" y="3936143"/>
            <a:ext cx="4915531"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I build it, host it, and read every feedback note you send</a:t>
            </a:r>
            <a:endParaRPr lang="en-US" sz="1400" dirty="0">
              <a:latin typeface="Public Sans" charset="0"/>
              <a:ea typeface="Public Sans" charset="0"/>
              <a:cs typeface="Public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THE PRODUCT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5"/>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A net log everyone sees, live</a:t>
            </a:r>
            <a:endParaRPr lang="en-US" sz="3600" dirty="0">
              <a:latin typeface="Oswald" charset="0"/>
              <a:ea typeface="Oswald" charset="0"/>
              <a:cs typeface="Oswald" charset="0"/>
            </a:endParaRPr>
          </a:p>
        </p:txBody>
      </p:sp>
      <p:sp>
        <p:nvSpPr>
          <p:cNvPr id="4" name="Shape 2"/>
          <p:cNvSpPr/>
          <p:nvPr/>
        </p:nvSpPr>
        <p:spPr>
          <a:xfrm>
            <a:off x="815957" y="2235101"/>
            <a:ext cx="4362522" cy="1135342"/>
          </a:xfrm>
          <a:prstGeom prst="roundRect">
            <a:avLst>
              <a:gd name="adj" fmla="val 8669"/>
            </a:avLst>
          </a:prstGeom>
          <a:solidFill>
            <a:srgbClr val="FCFCFA"/>
          </a:solidFill>
          <a:ln w="6350">
            <a:solidFill>
              <a:srgbClr val="DFE3E8"/>
            </a:solidFill>
            <a:prstDash val="solid"/>
          </a:ln>
        </p:spPr>
      </p:sp>
      <p:sp>
        <p:nvSpPr>
          <p:cNvPr id="5" name="Text 3"/>
          <p:cNvSpPr/>
          <p:nvPr/>
        </p:nvSpPr>
        <p:spPr>
          <a:xfrm>
            <a:off x="1021728" y="2415480"/>
            <a:ext cx="406951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One list, on every screen</a:t>
            </a:r>
            <a:endParaRPr lang="en-US" sz="1600" dirty="0">
              <a:latin typeface="Public Sans" charset="0"/>
              <a:ea typeface="Public Sans" charset="0"/>
              <a:cs typeface="Public Sans" charset="0"/>
            </a:endParaRPr>
          </a:p>
        </p:txBody>
      </p:sp>
      <p:sp>
        <p:nvSpPr>
          <p:cNvPr id="6" name="Text 4"/>
          <p:cNvSpPr/>
          <p:nvPr/>
        </p:nvSpPr>
        <p:spPr>
          <a:xfrm>
            <a:off x="1021728" y="2710115"/>
            <a:ext cx="4069510"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Check-ins appear for everyone the moment they’re logged</a:t>
            </a:r>
            <a:endParaRPr lang="en-US" sz="1400" dirty="0">
              <a:latin typeface="Public Sans" charset="0"/>
              <a:ea typeface="Public Sans" charset="0"/>
              <a:cs typeface="Public Sans" charset="0"/>
            </a:endParaRPr>
          </a:p>
        </p:txBody>
      </p:sp>
      <p:sp>
        <p:nvSpPr>
          <p:cNvPr id="7" name="Shape 5"/>
          <p:cNvSpPr/>
          <p:nvPr/>
        </p:nvSpPr>
        <p:spPr>
          <a:xfrm>
            <a:off x="815957" y="3529183"/>
            <a:ext cx="4362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709563"/>
            <a:ext cx="406951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Nothing to install</a:t>
            </a:r>
            <a:endParaRPr lang="en-US" sz="1600" dirty="0">
              <a:latin typeface="Public Sans" charset="0"/>
              <a:ea typeface="Public Sans" charset="0"/>
              <a:cs typeface="Public Sans" charset="0"/>
            </a:endParaRPr>
          </a:p>
        </p:txBody>
      </p:sp>
      <p:sp>
        <p:nvSpPr>
          <p:cNvPr id="9" name="Text 7"/>
          <p:cNvSpPr/>
          <p:nvPr/>
        </p:nvSpPr>
        <p:spPr>
          <a:xfrm>
            <a:off x="1021728" y="4004197"/>
            <a:ext cx="406951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A web page on your phone, tablet or computer</a:t>
            </a:r>
            <a:endParaRPr lang="en-US" sz="1400" dirty="0">
              <a:latin typeface="Public Sans" charset="0"/>
              <a:ea typeface="Public Sans" charset="0"/>
              <a:cs typeface="Public Sans" charset="0"/>
            </a:endParaRPr>
          </a:p>
        </p:txBody>
      </p:sp>
      <p:sp>
        <p:nvSpPr>
          <p:cNvPr id="10" name="Shape 8"/>
          <p:cNvSpPr/>
          <p:nvPr/>
        </p:nvSpPr>
        <p:spPr>
          <a:xfrm>
            <a:off x="815957" y="4583292"/>
            <a:ext cx="4362522" cy="1135342"/>
          </a:xfrm>
          <a:prstGeom prst="roundRect">
            <a:avLst>
              <a:gd name="adj" fmla="val 8669"/>
            </a:avLst>
          </a:prstGeom>
          <a:solidFill>
            <a:srgbClr val="FCFCFA"/>
          </a:solidFill>
          <a:ln w="6350">
            <a:solidFill>
              <a:srgbClr val="DFE3E8"/>
            </a:solidFill>
            <a:prstDash val="solid"/>
          </a:ln>
        </p:spPr>
      </p:sp>
      <p:sp>
        <p:nvSpPr>
          <p:cNvPr id="11" name="Text 9"/>
          <p:cNvSpPr/>
          <p:nvPr/>
        </p:nvSpPr>
        <p:spPr>
          <a:xfrm>
            <a:off x="1021728" y="4763672"/>
            <a:ext cx="406951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The paperwork writes itself</a:t>
            </a:r>
            <a:endParaRPr lang="en-US" sz="1600" dirty="0">
              <a:latin typeface="Public Sans" charset="0"/>
              <a:ea typeface="Public Sans" charset="0"/>
              <a:cs typeface="Public Sans" charset="0"/>
            </a:endParaRPr>
          </a:p>
        </p:txBody>
      </p:sp>
      <p:sp>
        <p:nvSpPr>
          <p:cNvPr id="12" name="Text 10"/>
          <p:cNvSpPr/>
          <p:nvPr/>
        </p:nvSpPr>
        <p:spPr>
          <a:xfrm>
            <a:off x="1021728" y="5058307"/>
            <a:ext cx="4069510"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Report, ICS-309 and log email when the net closes</a:t>
            </a:r>
            <a:endParaRPr lang="en-US" sz="1400" dirty="0">
              <a:latin typeface="Public Sans" charset="0"/>
              <a:ea typeface="Public Sans" charset="0"/>
              <a:cs typeface="Public Sans" charset="0"/>
            </a:endParaRPr>
          </a:p>
        </p:txBody>
      </p:sp>
      <p:sp>
        <p:nvSpPr>
          <p:cNvPr id="13" name="Shape 11"/>
          <p:cNvSpPr/>
          <p:nvPr/>
        </p:nvSpPr>
        <p:spPr>
          <a:xfrm>
            <a:off x="5537218" y="1909961"/>
            <a:ext cx="5842000" cy="4133814"/>
          </a:xfrm>
          <a:prstGeom prst="roundRect">
            <a:avLst>
              <a:gd name="adj" fmla="val 3072"/>
            </a:avLst>
          </a:prstGeom>
          <a:solidFill>
            <a:srgbClr val="DFE5EE"/>
          </a:solidFill>
          <a:ln/>
        </p:spPr>
      </p:sp>
      <p:pic>
        <p:nvPicPr>
          <p:cNvPr id="14" name="Image 0" descr="An ECTLogger net with its check-in list, status icons, toolbar and chat">    </p:cNvPr>
          <p:cNvPicPr>
            <a:picLocks noChangeAspect="1"/>
          </p:cNvPicPr>
          <p:nvPr/>
        </p:nvPicPr>
        <p:blipFill>
          <a:blip r:embed="rId1"/>
          <a:srcRect l="-10" r="-10" t="0" b="0"/>
          <a:stretch/>
        </p:blipFill>
        <p:spPr>
          <a:xfrm>
            <a:off x="5664218" y="2036961"/>
            <a:ext cx="5588000" cy="38798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WHERE IT STANDS</a:t>
            </a:r>
            <a:endParaRPr lang="en-US" sz="1200" dirty="0">
              <a:latin typeface="Public Sans" charset="0"/>
              <a:ea typeface="Public Sans" charset="0"/>
              <a:cs typeface="Public Sans" charset="0"/>
            </a:endParaRPr>
          </a:p>
        </p:txBody>
      </p:sp>
      <p:sp>
        <p:nvSpPr>
          <p:cNvPr id="3" name="Text 1"/>
          <p:cNvSpPr/>
          <p:nvPr>
            <p:ph type="title"/>
          </p:nvPr>
        </p:nvSpPr>
        <p:spPr>
          <a:xfrm>
            <a:off x="812782" y="1102274"/>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On the air since December 2025</a:t>
            </a:r>
            <a:endParaRPr lang="en-US" sz="3600" dirty="0">
              <a:latin typeface="Oswald" charset="0"/>
              <a:ea typeface="Oswald" charset="0"/>
              <a:cs typeface="Oswald" charset="0"/>
            </a:endParaRPr>
          </a:p>
        </p:txBody>
      </p:sp>
      <p:sp>
        <p:nvSpPr>
          <p:cNvPr id="4" name="Text 2"/>
          <p:cNvSpPr/>
          <p:nvPr/>
        </p:nvSpPr>
        <p:spPr>
          <a:xfrm>
            <a:off x="812782" y="1909959"/>
            <a:ext cx="2563895" cy="825464"/>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565C0"/>
                </a:solidFill>
                <a:latin typeface="Oswald" pitchFamily="34" charset="0"/>
                <a:ea typeface="Oswald" pitchFamily="34" charset="-122"/>
                <a:cs typeface="Oswald" pitchFamily="34" charset="-120"/>
              </a:rPr>
              <a:t>123</a:t>
            </a:r>
            <a:endParaRPr lang="en-US" sz="6000" dirty="0">
              <a:latin typeface="Oswald" charset="0"/>
              <a:ea typeface="Oswald" charset="0"/>
              <a:cs typeface="Oswald" charset="0"/>
            </a:endParaRPr>
          </a:p>
        </p:txBody>
      </p:sp>
      <p:sp>
        <p:nvSpPr>
          <p:cNvPr id="5" name="Text 3"/>
          <p:cNvSpPr/>
          <p:nvPr/>
        </p:nvSpPr>
        <p:spPr>
          <a:xfrm>
            <a:off x="812782" y="2735414"/>
            <a:ext cx="2563895"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nets logged</a:t>
            </a:r>
            <a:endParaRPr lang="en-US" sz="1400" dirty="0">
              <a:latin typeface="Public Sans" charset="0"/>
              <a:ea typeface="Public Sans" charset="0"/>
              <a:cs typeface="Public Sans" charset="0"/>
            </a:endParaRPr>
          </a:p>
        </p:txBody>
      </p:sp>
      <p:sp>
        <p:nvSpPr>
          <p:cNvPr id="6" name="Text 4"/>
          <p:cNvSpPr/>
          <p:nvPr/>
        </p:nvSpPr>
        <p:spPr>
          <a:xfrm>
            <a:off x="3505173" y="1909959"/>
            <a:ext cx="2563895" cy="825464"/>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565C0"/>
                </a:solidFill>
                <a:latin typeface="Oswald" pitchFamily="34" charset="0"/>
                <a:ea typeface="Oswald" pitchFamily="34" charset="-122"/>
                <a:cs typeface="Oswald" pitchFamily="34" charset="-120"/>
              </a:rPr>
              <a:t>1,517</a:t>
            </a:r>
            <a:endParaRPr lang="en-US" sz="6000" dirty="0">
              <a:latin typeface="Oswald" charset="0"/>
              <a:ea typeface="Oswald" charset="0"/>
              <a:cs typeface="Oswald" charset="0"/>
            </a:endParaRPr>
          </a:p>
        </p:txBody>
      </p:sp>
      <p:sp>
        <p:nvSpPr>
          <p:cNvPr id="7" name="Text 5"/>
          <p:cNvSpPr/>
          <p:nvPr/>
        </p:nvSpPr>
        <p:spPr>
          <a:xfrm>
            <a:off x="3505173" y="2735414"/>
            <a:ext cx="2563895"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check-ins</a:t>
            </a:r>
            <a:endParaRPr lang="en-US" sz="1400" dirty="0">
              <a:latin typeface="Public Sans" charset="0"/>
              <a:ea typeface="Public Sans" charset="0"/>
              <a:cs typeface="Public Sans" charset="0"/>
            </a:endParaRPr>
          </a:p>
        </p:txBody>
      </p:sp>
      <p:sp>
        <p:nvSpPr>
          <p:cNvPr id="8" name="Text 6"/>
          <p:cNvSpPr/>
          <p:nvPr/>
        </p:nvSpPr>
        <p:spPr>
          <a:xfrm>
            <a:off x="6197564" y="1909959"/>
            <a:ext cx="2563895" cy="825464"/>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565C0"/>
                </a:solidFill>
                <a:latin typeface="Oswald" pitchFamily="34" charset="0"/>
                <a:ea typeface="Oswald" pitchFamily="34" charset="-122"/>
                <a:cs typeface="Oswald" pitchFamily="34" charset="-120"/>
              </a:rPr>
              <a:t>330</a:t>
            </a:r>
            <a:endParaRPr lang="en-US" sz="6000" dirty="0">
              <a:latin typeface="Oswald" charset="0"/>
              <a:ea typeface="Oswald" charset="0"/>
              <a:cs typeface="Oswald" charset="0"/>
            </a:endParaRPr>
          </a:p>
        </p:txBody>
      </p:sp>
      <p:sp>
        <p:nvSpPr>
          <p:cNvPr id="9" name="Text 7"/>
          <p:cNvSpPr/>
          <p:nvPr/>
        </p:nvSpPr>
        <p:spPr>
          <a:xfrm>
            <a:off x="6197564" y="2735414"/>
            <a:ext cx="2563895"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different operators</a:t>
            </a:r>
            <a:endParaRPr lang="en-US" sz="1400" dirty="0">
              <a:latin typeface="Public Sans" charset="0"/>
              <a:ea typeface="Public Sans" charset="0"/>
              <a:cs typeface="Public Sans" charset="0"/>
            </a:endParaRPr>
          </a:p>
        </p:txBody>
      </p:sp>
      <p:sp>
        <p:nvSpPr>
          <p:cNvPr id="10" name="Text 8"/>
          <p:cNvSpPr/>
          <p:nvPr/>
        </p:nvSpPr>
        <p:spPr>
          <a:xfrm>
            <a:off x="8889954" y="1909959"/>
            <a:ext cx="2563941" cy="825464"/>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565C0"/>
                </a:solidFill>
                <a:latin typeface="Oswald" pitchFamily="34" charset="0"/>
                <a:ea typeface="Oswald" pitchFamily="34" charset="-122"/>
                <a:cs typeface="Oswald" pitchFamily="34" charset="-120"/>
              </a:rPr>
              <a:t>151</a:t>
            </a:r>
            <a:endParaRPr lang="en-US" sz="6000" dirty="0">
              <a:latin typeface="Oswald" charset="0"/>
              <a:ea typeface="Oswald" charset="0"/>
              <a:cs typeface="Oswald" charset="0"/>
            </a:endParaRPr>
          </a:p>
        </p:txBody>
      </p:sp>
      <p:sp>
        <p:nvSpPr>
          <p:cNvPr id="11" name="Text 9"/>
          <p:cNvSpPr/>
          <p:nvPr/>
        </p:nvSpPr>
        <p:spPr>
          <a:xfrm>
            <a:off x="8889954" y="2735414"/>
            <a:ext cx="2563941"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accounts</a:t>
            </a:r>
            <a:endParaRPr lang="en-US" sz="1400" dirty="0">
              <a:latin typeface="Public Sans" charset="0"/>
              <a:ea typeface="Public Sans" charset="0"/>
              <a:cs typeface="Public Sans" charset="0"/>
            </a:endParaRPr>
          </a:p>
        </p:txBody>
      </p:sp>
      <p:pic>
        <p:nvPicPr>
          <p:cNvPr id="12" name="Image 0" descr="line">    </p:cNvPr>
          <p:cNvPicPr>
            <a:picLocks noChangeAspect="1"/>
          </p:cNvPicPr>
          <p:nvPr/>
        </p:nvPicPr>
        <p:blipFill>
          <a:blip r:embed="rId1"/>
          <a:srcRect l="-107" r="-107" t="0" b="0"/>
          <a:stretch/>
        </p:blipFill>
        <p:spPr>
          <a:xfrm>
            <a:off x="812782" y="3289055"/>
            <a:ext cx="10566436" cy="12673"/>
          </a:xfrm>
          <a:prstGeom prst="rect">
            <a:avLst/>
          </a:prstGeom>
        </p:spPr>
      </p:pic>
      <p:sp>
        <p:nvSpPr>
          <p:cNvPr id="13" name="Text 10"/>
          <p:cNvSpPr/>
          <p:nvPr/>
        </p:nvSpPr>
        <p:spPr>
          <a:xfrm>
            <a:off x="812782" y="3606510"/>
            <a:ext cx="10883429"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The last 30 days</a:t>
            </a:r>
            <a:endParaRPr lang="en-US" sz="1600" dirty="0">
              <a:latin typeface="Public Sans" charset="0"/>
              <a:ea typeface="Public Sans" charset="0"/>
              <a:cs typeface="Public Sans" charset="0"/>
            </a:endParaRPr>
          </a:p>
        </p:txBody>
      </p:sp>
      <p:sp>
        <p:nvSpPr>
          <p:cNvPr id="14" name="Text 11"/>
          <p:cNvSpPr/>
          <p:nvPr/>
        </p:nvSpPr>
        <p:spPr>
          <a:xfrm>
            <a:off x="812782" y="3977363"/>
            <a:ext cx="2563895"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Public Sans" pitchFamily="34" charset="0"/>
                <a:ea typeface="Public Sans" pitchFamily="34" charset="-122"/>
                <a:cs typeface="Public Sans" pitchFamily="34" charset="-120"/>
              </a:rPr>
              <a:t>29</a:t>
            </a:r>
            <a:r>
              <a:rPr lang="en-US" sz="1600" dirty="0">
                <a:solidFill>
                  <a:srgbClr val="4A5568"/>
                </a:solidFill>
                <a:latin typeface="Public Sans" pitchFamily="34" charset="0"/>
                <a:ea typeface="Public Sans" pitchFamily="34" charset="-122"/>
                <a:cs typeface="Public Sans" pitchFamily="34" charset="-120"/>
              </a:rPr>
              <a:t> nets</a:t>
            </a:r>
            <a:endParaRPr lang="en-US" sz="1600" dirty="0">
              <a:latin typeface="Public Sans" charset="0"/>
              <a:ea typeface="Public Sans" charset="0"/>
              <a:cs typeface="Public Sans" charset="0"/>
            </a:endParaRPr>
          </a:p>
        </p:txBody>
      </p:sp>
      <p:sp>
        <p:nvSpPr>
          <p:cNvPr id="15" name="Text 12"/>
          <p:cNvSpPr/>
          <p:nvPr/>
        </p:nvSpPr>
        <p:spPr>
          <a:xfrm>
            <a:off x="3505173" y="3977363"/>
            <a:ext cx="2563895"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Public Sans" pitchFamily="34" charset="0"/>
                <a:ea typeface="Public Sans" pitchFamily="34" charset="-122"/>
                <a:cs typeface="Public Sans" pitchFamily="34" charset="-120"/>
              </a:rPr>
              <a:t>488</a:t>
            </a:r>
            <a:r>
              <a:rPr lang="en-US" sz="1600" dirty="0">
                <a:solidFill>
                  <a:srgbClr val="4A5568"/>
                </a:solidFill>
                <a:latin typeface="Public Sans" pitchFamily="34" charset="0"/>
                <a:ea typeface="Public Sans" pitchFamily="34" charset="-122"/>
                <a:cs typeface="Public Sans" pitchFamily="34" charset="-120"/>
              </a:rPr>
              <a:t> check-ins</a:t>
            </a:r>
            <a:endParaRPr lang="en-US" sz="1600" dirty="0">
              <a:latin typeface="Public Sans" charset="0"/>
              <a:ea typeface="Public Sans" charset="0"/>
              <a:cs typeface="Public Sans" charset="0"/>
            </a:endParaRPr>
          </a:p>
        </p:txBody>
      </p:sp>
      <p:sp>
        <p:nvSpPr>
          <p:cNvPr id="16" name="Text 13"/>
          <p:cNvSpPr/>
          <p:nvPr/>
        </p:nvSpPr>
        <p:spPr>
          <a:xfrm>
            <a:off x="6197564" y="3977363"/>
            <a:ext cx="2563895"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Public Sans" pitchFamily="34" charset="0"/>
                <a:ea typeface="Public Sans" pitchFamily="34" charset="-122"/>
                <a:cs typeface="Public Sans" pitchFamily="34" charset="-120"/>
              </a:rPr>
              <a:t>17</a:t>
            </a:r>
            <a:r>
              <a:rPr lang="en-US" sz="1600" dirty="0">
                <a:solidFill>
                  <a:srgbClr val="4A5568"/>
                </a:solidFill>
                <a:latin typeface="Public Sans" pitchFamily="34" charset="0"/>
                <a:ea typeface="Public Sans" pitchFamily="34" charset="-122"/>
                <a:cs typeface="Public Sans" pitchFamily="34" charset="-120"/>
              </a:rPr>
              <a:t> per net, on average</a:t>
            </a:r>
            <a:endParaRPr lang="en-US" sz="1600" dirty="0">
              <a:latin typeface="Public Sans" charset="0"/>
              <a:ea typeface="Public Sans" charset="0"/>
              <a:cs typeface="Public Sans" charset="0"/>
            </a:endParaRPr>
          </a:p>
        </p:txBody>
      </p:sp>
      <p:sp>
        <p:nvSpPr>
          <p:cNvPr id="17" name="Text 14"/>
          <p:cNvSpPr/>
          <p:nvPr/>
        </p:nvSpPr>
        <p:spPr>
          <a:xfrm>
            <a:off x="8889954" y="3977363"/>
            <a:ext cx="2563941"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Public Sans" pitchFamily="34" charset="0"/>
                <a:ea typeface="Public Sans" pitchFamily="34" charset="-122"/>
                <a:cs typeface="Public Sans" pitchFamily="34" charset="-120"/>
              </a:rPr>
              <a:t>69</a:t>
            </a:r>
            <a:r>
              <a:rPr lang="en-US" sz="1600" dirty="0">
                <a:solidFill>
                  <a:srgbClr val="4A5568"/>
                </a:solidFill>
                <a:latin typeface="Public Sans" pitchFamily="34" charset="0"/>
                <a:ea typeface="Public Sans" pitchFamily="34" charset="-122"/>
                <a:cs typeface="Public Sans" pitchFamily="34" charset="-120"/>
              </a:rPr>
              <a:t> new operators</a:t>
            </a:r>
            <a:endParaRPr lang="en-US" sz="1600" dirty="0">
              <a:latin typeface="Public Sans" charset="0"/>
              <a:ea typeface="Public Sans" charset="0"/>
              <a:cs typeface="Public Sans" charset="0"/>
            </a:endParaRPr>
          </a:p>
        </p:txBody>
      </p:sp>
      <p:sp>
        <p:nvSpPr>
          <p:cNvPr id="18" name="Text 15"/>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Source: the Stats page at app.ectlogger.us, October 30, 2026</a:t>
            </a:r>
            <a:endParaRPr lang="en-US" sz="1200" dirty="0">
              <a:latin typeface="Public Sans" charset="0"/>
              <a:ea typeface="Public Sans" charset="0"/>
              <a:cs typeface="Public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WHO’S ON IT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4"/>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The busiest nets this month</a:t>
            </a:r>
            <a:endParaRPr lang="en-US" sz="3600" dirty="0">
              <a:latin typeface="Oswald" charset="0"/>
              <a:ea typeface="Oswald" charset="0"/>
              <a:cs typeface="Oswald"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70722"/>
          <a:ext cx="10554890" cy="2693518"/>
        </p:xfrm>
        <a:graphic>
          <a:graphicData uri="http://schemas.openxmlformats.org/drawingml/2006/table">
            <a:tbl>
              <a:tblPr/>
              <a:tblGrid>
                <a:gridCol w="7388423"/>
                <a:gridCol w="1583234"/>
                <a:gridCol w="1583234"/>
              </a:tblGrid>
              <a:tr h="384788">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Net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c>
                  <a:txBody>
                    <a:bodyPr/>
                    <a:lstStyle/>
                    <a:p>
                      <a:pPr algn="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Nets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6B2"/>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c>
                  <a:txBody>
                    <a:bodyPr/>
                    <a:lstStyle/>
                    <a:p>
                      <a:pPr algn="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Check-ins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6B2"/>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r>
              <a:tr h="384788">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UFB New England Weekly Net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127</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4788">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ME Dirigo Net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82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4788">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WSSM Simulated Emergency Test (SET)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5BD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DC6"/>
                      </a:solidFill>
                      <a:prstDash val="solid"/>
                      <a:round/>
                      <a:headEnd type="none" w="med" len="med"/>
                      <a:tailEnd type="none" w="med" len="med"/>
                    </a:lnB>
                    <a:solidFill>
                      <a:srgbClr val="E3EDF9"/>
                    </a:solidFill>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DC6"/>
                      </a:solidFill>
                      <a:prstDash val="solid"/>
                      <a:round/>
                      <a:headEnd type="none" w="med" len="med"/>
                      <a:tailEnd type="none" w="med" len="med"/>
                    </a:lnL>
                    <a:lnR w="12700" cap="flat" cmpd="sng" algn="ctr">
                      <a:solidFill>
                        <a:srgbClr val="B5BD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DC6"/>
                      </a:solidFill>
                      <a:prstDash val="solid"/>
                      <a:round/>
                      <a:headEnd type="none" w="med" len="med"/>
                      <a:tailEnd type="none" w="med" len="med"/>
                    </a:lnB>
                    <a:solidFill>
                      <a:srgbClr val="E3EDF9"/>
                    </a:solidFill>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74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DC6"/>
                      </a:solidFill>
                      <a:prstDash val="solid"/>
                      <a:round/>
                      <a:headEnd type="none" w="med" len="med"/>
                      <a:tailEnd type="none" w="med" len="med"/>
                    </a:lnL>
                    <a:lnR w="12700" cap="flat" cmpd="sng" algn="ctr">
                      <a:solidFill>
                        <a:srgbClr val="B5BD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DC6"/>
                      </a:solidFill>
                      <a:prstDash val="solid"/>
                      <a:round/>
                      <a:headEnd type="none" w="med" len="med"/>
                      <a:tailEnd type="none" w="med" len="med"/>
                    </a:lnB>
                    <a:solidFill>
                      <a:srgbClr val="E3EDF9"/>
                    </a:solidFill>
                  </a:tcPr>
                </a:tc>
              </a:tr>
              <a:tr h="384788">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Weekly Greater Manchester NH ARES Net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5BDC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5BDC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58</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5BDC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4788">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Office Hours Tech Net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49</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4788">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East Rock ARES Weekly Training Net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30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782" y="4818242"/>
            <a:ext cx="10883429"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17 active schedules, run by 10 net managers across Maine, New Hampshire and beyond</a:t>
            </a:r>
            <a:endParaRPr lang="en-US" sz="1400" dirty="0">
              <a:latin typeface="Public Sans" charset="0"/>
              <a:ea typeface="Public Sans" charset="0"/>
              <a:cs typeface="Public Sans" charset="0"/>
            </a:endParaRPr>
          </a:p>
        </p:txBody>
      </p:sp>
      <p:sp>
        <p:nvSpPr>
          <p:cNvPr id="6" name="Text 3"/>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Source: the Stats page at app.ectlogger.us, last 30 days, October 30, 2026</a:t>
            </a:r>
            <a:endParaRPr lang="en-US" sz="1200" dirty="0">
              <a:latin typeface="Public Sans" charset="0"/>
              <a:ea typeface="Public Sans" charset="0"/>
              <a:cs typeface="Public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TONIGHT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4"/>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Three parts, one live net</a:t>
            </a:r>
            <a:endParaRPr lang="en-US" sz="3600" dirty="0">
              <a:latin typeface="Oswald" charset="0"/>
              <a:ea typeface="Oswald" charset="0"/>
              <a:cs typeface="Oswald" charset="0"/>
            </a:endParaRPr>
          </a:p>
        </p:txBody>
      </p:sp>
      <p:sp>
        <p:nvSpPr>
          <p:cNvPr id="4" name="Shape 2"/>
          <p:cNvSpPr/>
          <p:nvPr/>
        </p:nvSpPr>
        <p:spPr>
          <a:xfrm>
            <a:off x="815957" y="1963917"/>
            <a:ext cx="3380347" cy="1943028"/>
          </a:xfrm>
          <a:prstGeom prst="roundRect">
            <a:avLst>
              <a:gd name="adj" fmla="val 5066"/>
            </a:avLst>
          </a:prstGeom>
          <a:solidFill>
            <a:srgbClr val="FCFCFA"/>
          </a:solidFill>
          <a:ln w="6350">
            <a:solidFill>
              <a:srgbClr val="DFE3E8"/>
            </a:solidFill>
            <a:prstDash val="solid"/>
          </a:ln>
        </p:spPr>
      </p:sp>
      <p:sp>
        <p:nvSpPr>
          <p:cNvPr id="5" name="Text 3"/>
          <p:cNvSpPr/>
          <p:nvPr/>
        </p:nvSpPr>
        <p:spPr>
          <a:xfrm>
            <a:off x="1072555" y="2220516"/>
            <a:ext cx="2953166"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565C0"/>
                </a:solidFill>
                <a:latin typeface="Oswald" pitchFamily="34" charset="0"/>
                <a:ea typeface="Oswald" pitchFamily="34" charset="-122"/>
                <a:cs typeface="Oswald" pitchFamily="34" charset="-120"/>
              </a:rPr>
              <a:t>1</a:t>
            </a:r>
            <a:endParaRPr lang="en-US" sz="3600" dirty="0">
              <a:latin typeface="Oswald" charset="0"/>
              <a:ea typeface="Oswald" charset="0"/>
              <a:cs typeface="Oswald" charset="0"/>
            </a:endParaRPr>
          </a:p>
        </p:txBody>
      </p:sp>
      <p:sp>
        <p:nvSpPr>
          <p:cNvPr id="6" name="Text 4"/>
          <p:cNvSpPr/>
          <p:nvPr/>
        </p:nvSpPr>
        <p:spPr>
          <a:xfrm>
            <a:off x="1072555" y="2824981"/>
            <a:ext cx="295316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Joining a net</a:t>
            </a:r>
            <a:endParaRPr lang="en-US" sz="1600" dirty="0">
              <a:latin typeface="Public Sans" charset="0"/>
              <a:ea typeface="Public Sans" charset="0"/>
              <a:cs typeface="Public Sans" charset="0"/>
            </a:endParaRPr>
          </a:p>
        </p:txBody>
      </p:sp>
      <p:sp>
        <p:nvSpPr>
          <p:cNvPr id="7" name="Text 5"/>
          <p:cNvSpPr/>
          <p:nvPr/>
        </p:nvSpPr>
        <p:spPr>
          <a:xfrm>
            <a:off x="1072555" y="3170399"/>
            <a:ext cx="2953166"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Sign in, find a net, check in, and take part</a:t>
            </a:r>
            <a:endParaRPr lang="en-US" sz="1400" dirty="0">
              <a:latin typeface="Public Sans" charset="0"/>
              <a:ea typeface="Public Sans" charset="0"/>
              <a:cs typeface="Public Sans" charset="0"/>
            </a:endParaRPr>
          </a:p>
        </p:txBody>
      </p:sp>
      <p:sp>
        <p:nvSpPr>
          <p:cNvPr id="8" name="Shape 6"/>
          <p:cNvSpPr/>
          <p:nvPr/>
        </p:nvSpPr>
        <p:spPr>
          <a:xfrm>
            <a:off x="4405826" y="1963917"/>
            <a:ext cx="3380347" cy="1943028"/>
          </a:xfrm>
          <a:prstGeom prst="roundRect">
            <a:avLst>
              <a:gd name="adj" fmla="val 5066"/>
            </a:avLst>
          </a:prstGeom>
          <a:solidFill>
            <a:srgbClr val="FCFCFA"/>
          </a:solidFill>
          <a:ln w="6350">
            <a:solidFill>
              <a:srgbClr val="DFE3E8"/>
            </a:solidFill>
            <a:prstDash val="solid"/>
          </a:ln>
        </p:spPr>
      </p:sp>
      <p:sp>
        <p:nvSpPr>
          <p:cNvPr id="9" name="Text 7"/>
          <p:cNvSpPr/>
          <p:nvPr/>
        </p:nvSpPr>
        <p:spPr>
          <a:xfrm>
            <a:off x="4662424" y="2220516"/>
            <a:ext cx="2953166"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565C0"/>
                </a:solidFill>
                <a:latin typeface="Oswald" pitchFamily="34" charset="0"/>
                <a:ea typeface="Oswald" pitchFamily="34" charset="-122"/>
                <a:cs typeface="Oswald" pitchFamily="34" charset="-120"/>
              </a:rPr>
              <a:t>2</a:t>
            </a:r>
            <a:endParaRPr lang="en-US" sz="3600" dirty="0">
              <a:latin typeface="Oswald" charset="0"/>
              <a:ea typeface="Oswald" charset="0"/>
              <a:cs typeface="Oswald" charset="0"/>
            </a:endParaRPr>
          </a:p>
        </p:txBody>
      </p:sp>
      <p:sp>
        <p:nvSpPr>
          <p:cNvPr id="10" name="Text 8"/>
          <p:cNvSpPr/>
          <p:nvPr/>
        </p:nvSpPr>
        <p:spPr>
          <a:xfrm>
            <a:off x="4662424" y="2824981"/>
            <a:ext cx="295316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Running a club net</a:t>
            </a:r>
            <a:endParaRPr lang="en-US" sz="1600" dirty="0">
              <a:latin typeface="Public Sans" charset="0"/>
              <a:ea typeface="Public Sans" charset="0"/>
              <a:cs typeface="Public Sans" charset="0"/>
            </a:endParaRPr>
          </a:p>
        </p:txBody>
      </p:sp>
      <p:sp>
        <p:nvSpPr>
          <p:cNvPr id="11" name="Text 9"/>
          <p:cNvSpPr/>
          <p:nvPr/>
        </p:nvSpPr>
        <p:spPr>
          <a:xfrm>
            <a:off x="4662424" y="3170399"/>
            <a:ext cx="2953166"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Schedules, the net control desk, and closing out the log</a:t>
            </a:r>
            <a:endParaRPr lang="en-US" sz="1400" dirty="0">
              <a:latin typeface="Public Sans" charset="0"/>
              <a:ea typeface="Public Sans" charset="0"/>
              <a:cs typeface="Public Sans" charset="0"/>
            </a:endParaRPr>
          </a:p>
        </p:txBody>
      </p:sp>
      <p:sp>
        <p:nvSpPr>
          <p:cNvPr id="12" name="Shape 10"/>
          <p:cNvSpPr/>
          <p:nvPr/>
        </p:nvSpPr>
        <p:spPr>
          <a:xfrm>
            <a:off x="7995696" y="1963917"/>
            <a:ext cx="3380347" cy="1943028"/>
          </a:xfrm>
          <a:prstGeom prst="roundRect">
            <a:avLst>
              <a:gd name="adj" fmla="val 5066"/>
            </a:avLst>
          </a:prstGeom>
          <a:solidFill>
            <a:srgbClr val="FCFCFA"/>
          </a:solidFill>
          <a:ln w="6350">
            <a:solidFill>
              <a:srgbClr val="DFE3E8"/>
            </a:solidFill>
            <a:prstDash val="solid"/>
          </a:ln>
        </p:spPr>
      </p:sp>
      <p:sp>
        <p:nvSpPr>
          <p:cNvPr id="13" name="Text 11"/>
          <p:cNvSpPr/>
          <p:nvPr/>
        </p:nvSpPr>
        <p:spPr>
          <a:xfrm>
            <a:off x="8252294" y="2220516"/>
            <a:ext cx="2953166" cy="528304"/>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565C0"/>
                </a:solidFill>
                <a:latin typeface="Oswald" pitchFamily="34" charset="0"/>
                <a:ea typeface="Oswald" pitchFamily="34" charset="-122"/>
                <a:cs typeface="Oswald" pitchFamily="34" charset="-120"/>
              </a:rPr>
              <a:t>3</a:t>
            </a:r>
            <a:endParaRPr lang="en-US" sz="3600" dirty="0">
              <a:latin typeface="Oswald" charset="0"/>
              <a:ea typeface="Oswald" charset="0"/>
              <a:cs typeface="Oswald" charset="0"/>
            </a:endParaRPr>
          </a:p>
        </p:txBody>
      </p:sp>
      <p:sp>
        <p:nvSpPr>
          <p:cNvPr id="14" name="Text 12"/>
          <p:cNvSpPr/>
          <p:nvPr/>
        </p:nvSpPr>
        <p:spPr>
          <a:xfrm>
            <a:off x="8252294" y="2824981"/>
            <a:ext cx="295316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ARES and SKYWARN nets</a:t>
            </a:r>
            <a:endParaRPr lang="en-US" sz="1600" dirty="0">
              <a:latin typeface="Public Sans" charset="0"/>
              <a:ea typeface="Public Sans" charset="0"/>
              <a:cs typeface="Public Sans" charset="0"/>
            </a:endParaRPr>
          </a:p>
        </p:txBody>
      </p:sp>
      <p:sp>
        <p:nvSpPr>
          <p:cNvPr id="15" name="Text 13"/>
          <p:cNvSpPr/>
          <p:nvPr/>
        </p:nvSpPr>
        <p:spPr>
          <a:xfrm>
            <a:off x="8252294" y="3170399"/>
            <a:ext cx="2953166"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Several frequencies and modes, several net controls, one log</a:t>
            </a:r>
            <a:endParaRPr lang="en-US" sz="1400" dirty="0">
              <a:latin typeface="Public Sans" charset="0"/>
              <a:ea typeface="Public Sans" charset="0"/>
              <a:cs typeface="Public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391" cy="6858000"/>
          </a:xfrm>
          <a:prstGeom prst="rect">
            <a:avLst/>
          </a:prstGeom>
          <a:solidFill>
            <a:srgbClr val="1E88E5"/>
          </a:solidFill>
          <a:ln/>
        </p:spPr>
      </p:sp>
      <p:sp>
        <p:nvSpPr>
          <p:cNvPr id="3" name="Text 1"/>
          <p:cNvSpPr/>
          <p:nvPr/>
        </p:nvSpPr>
        <p:spPr>
          <a:xfrm>
            <a:off x="812782" y="258830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B8F5"/>
                </a:solidFill>
                <a:latin typeface="Public Sans" pitchFamily="34" charset="0"/>
                <a:ea typeface="Public Sans" pitchFamily="34" charset="-122"/>
                <a:cs typeface="Public Sans" pitchFamily="34" charset="-120"/>
              </a:rPr>
              <a:t>PART 1</a:t>
            </a:r>
            <a:endParaRPr lang="en-US" sz="1200" dirty="0">
              <a:latin typeface="Public Sans" charset="0"/>
              <a:ea typeface="Public Sans" charset="0"/>
              <a:cs typeface="Public Sans" charset="0"/>
            </a:endParaRPr>
          </a:p>
        </p:txBody>
      </p:sp>
      <p:sp>
        <p:nvSpPr>
          <p:cNvPr id="4" name="Text 2"/>
          <p:cNvSpPr/>
          <p:nvPr>
            <p:ph type="title"/>
          </p:nvPr>
        </p:nvSpPr>
        <p:spPr>
          <a:xfrm>
            <a:off x="812782" y="2954012"/>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Oswald" pitchFamily="34" charset="0"/>
                <a:ea typeface="Oswald" pitchFamily="34" charset="-122"/>
                <a:cs typeface="Oswald" pitchFamily="34" charset="-120"/>
              </a:rPr>
              <a:t>Joining a net</a:t>
            </a:r>
            <a:endParaRPr lang="en-US" sz="6000" dirty="0">
              <a:latin typeface="Oswald" charset="0"/>
              <a:ea typeface="Oswald" charset="0"/>
              <a:cs typeface="Oswald" charset="0"/>
            </a:endParaRPr>
          </a:p>
        </p:txBody>
      </p:sp>
      <p:sp>
        <p:nvSpPr>
          <p:cNvPr id="5" name="Text 3"/>
          <p:cNvSpPr/>
          <p:nvPr/>
        </p:nvSpPr>
        <p:spPr>
          <a:xfrm>
            <a:off x="812782" y="3906465"/>
            <a:ext cx="10883429" cy="38858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5E3"/>
                </a:solidFill>
                <a:latin typeface="Public Sans" pitchFamily="34" charset="0"/>
                <a:ea typeface="Public Sans" pitchFamily="34" charset="-122"/>
                <a:cs typeface="Public Sans" pitchFamily="34" charset="-120"/>
              </a:rPr>
              <a:t>For everyone who checks in</a:t>
            </a:r>
            <a:endParaRPr lang="en-US" sz="2200" dirty="0">
              <a:latin typeface="Public Sans" charset="0"/>
              <a:ea typeface="Public Sans" charset="0"/>
              <a:cs typeface="Public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1 · JOINING A NET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7"/>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Sign in and find your net</a:t>
            </a:r>
            <a:endParaRPr lang="en-US" sz="3600" dirty="0">
              <a:latin typeface="Oswald" charset="0"/>
              <a:ea typeface="Oswald" charset="0"/>
              <a:cs typeface="Oswald" charset="0"/>
            </a:endParaRPr>
          </a:p>
        </p:txBody>
      </p:sp>
      <p:sp>
        <p:nvSpPr>
          <p:cNvPr id="4" name="Shape 2"/>
          <p:cNvSpPr/>
          <p:nvPr/>
        </p:nvSpPr>
        <p:spPr>
          <a:xfrm>
            <a:off x="815957" y="2326518"/>
            <a:ext cx="4489522" cy="1135342"/>
          </a:xfrm>
          <a:prstGeom prst="roundRect">
            <a:avLst>
              <a:gd name="adj" fmla="val 8669"/>
            </a:avLst>
          </a:prstGeom>
          <a:solidFill>
            <a:srgbClr val="FCFCFA"/>
          </a:solidFill>
          <a:ln w="6350">
            <a:solidFill>
              <a:srgbClr val="DFE3E8"/>
            </a:solidFill>
            <a:prstDash val="solid"/>
          </a:ln>
        </p:spPr>
      </p:sp>
      <p:sp>
        <p:nvSpPr>
          <p:cNvPr id="5" name="Text 3"/>
          <p:cNvSpPr/>
          <p:nvPr/>
        </p:nvSpPr>
        <p:spPr>
          <a:xfrm>
            <a:off x="1021728" y="2506898"/>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No password needed</a:t>
            </a:r>
            <a:endParaRPr lang="en-US" sz="1600" dirty="0">
              <a:latin typeface="Public Sans" charset="0"/>
              <a:ea typeface="Public Sans" charset="0"/>
              <a:cs typeface="Public Sans" charset="0"/>
            </a:endParaRPr>
          </a:p>
        </p:txBody>
      </p:sp>
      <p:sp>
        <p:nvSpPr>
          <p:cNvPr id="6" name="Text 4"/>
          <p:cNvSpPr/>
          <p:nvPr/>
        </p:nvSpPr>
        <p:spPr>
          <a:xfrm>
            <a:off x="1021728" y="2801534"/>
            <a:ext cx="4200320"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Enter your email and click the sign-in link we send</a:t>
            </a:r>
            <a:endParaRPr lang="en-US" sz="1400" dirty="0">
              <a:latin typeface="Public Sans" charset="0"/>
              <a:ea typeface="Public Sans" charset="0"/>
              <a:cs typeface="Public Sans" charset="0"/>
            </a:endParaRPr>
          </a:p>
        </p:txBody>
      </p:sp>
      <p:sp>
        <p:nvSpPr>
          <p:cNvPr id="7" name="Shape 5"/>
          <p:cNvSpPr/>
          <p:nvPr/>
        </p:nvSpPr>
        <p:spPr>
          <a:xfrm>
            <a:off x="815957" y="3620601"/>
            <a:ext cx="4489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800980"/>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Nets shows what’s on</a:t>
            </a:r>
            <a:endParaRPr lang="en-US" sz="1600" dirty="0">
              <a:latin typeface="Public Sans" charset="0"/>
              <a:ea typeface="Public Sans" charset="0"/>
              <a:cs typeface="Public Sans" charset="0"/>
            </a:endParaRPr>
          </a:p>
        </p:txBody>
      </p:sp>
      <p:sp>
        <p:nvSpPr>
          <p:cNvPr id="9" name="Text 7"/>
          <p:cNvSpPr/>
          <p:nvPr/>
        </p:nvSpPr>
        <p:spPr>
          <a:xfrm>
            <a:off x="1021728" y="4095617"/>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Running now first, then what’s coming up</a:t>
            </a:r>
            <a:endParaRPr lang="en-US" sz="1400" dirty="0">
              <a:latin typeface="Public Sans" charset="0"/>
              <a:ea typeface="Public Sans" charset="0"/>
              <a:cs typeface="Public Sans" charset="0"/>
            </a:endParaRPr>
          </a:p>
        </p:txBody>
      </p:sp>
      <p:sp>
        <p:nvSpPr>
          <p:cNvPr id="10" name="Shape 8"/>
          <p:cNvSpPr/>
          <p:nvPr/>
        </p:nvSpPr>
        <p:spPr>
          <a:xfrm>
            <a:off x="815957" y="4674713"/>
            <a:ext cx="4489522" cy="895368"/>
          </a:xfrm>
          <a:prstGeom prst="roundRect">
            <a:avLst>
              <a:gd name="adj" fmla="val 10993"/>
            </a:avLst>
          </a:prstGeom>
          <a:solidFill>
            <a:srgbClr val="FCFCFA"/>
          </a:solidFill>
          <a:ln w="6350">
            <a:solidFill>
              <a:srgbClr val="DFE3E8"/>
            </a:solidFill>
            <a:prstDash val="solid"/>
          </a:ln>
        </p:spPr>
      </p:sp>
      <p:sp>
        <p:nvSpPr>
          <p:cNvPr id="11" name="Text 9"/>
          <p:cNvSpPr/>
          <p:nvPr/>
        </p:nvSpPr>
        <p:spPr>
          <a:xfrm>
            <a:off x="1021728" y="4855093"/>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Star your regulars</a:t>
            </a:r>
            <a:endParaRPr lang="en-US" sz="1600" dirty="0">
              <a:latin typeface="Public Sans" charset="0"/>
              <a:ea typeface="Public Sans" charset="0"/>
              <a:cs typeface="Public Sans" charset="0"/>
            </a:endParaRPr>
          </a:p>
        </p:txBody>
      </p:sp>
      <p:sp>
        <p:nvSpPr>
          <p:cNvPr id="12" name="Text 10"/>
          <p:cNvSpPr/>
          <p:nvPr/>
        </p:nvSpPr>
        <p:spPr>
          <a:xfrm>
            <a:off x="1021728" y="5149723"/>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Starred schedules stay at the top in Favorites</a:t>
            </a:r>
            <a:endParaRPr lang="en-US" sz="1400" dirty="0">
              <a:latin typeface="Public Sans" charset="0"/>
              <a:ea typeface="Public Sans" charset="0"/>
              <a:cs typeface="Public Sans" charset="0"/>
            </a:endParaRPr>
          </a:p>
        </p:txBody>
      </p:sp>
      <p:sp>
        <p:nvSpPr>
          <p:cNvPr id="13" name="Shape 11"/>
          <p:cNvSpPr/>
          <p:nvPr/>
        </p:nvSpPr>
        <p:spPr>
          <a:xfrm>
            <a:off x="5664218" y="1909961"/>
            <a:ext cx="5715000" cy="4076673"/>
          </a:xfrm>
          <a:prstGeom prst="roundRect">
            <a:avLst>
              <a:gd name="adj" fmla="val 3115"/>
            </a:avLst>
          </a:prstGeom>
          <a:solidFill>
            <a:srgbClr val="DFE5EE"/>
          </a:solidFill>
          <a:ln/>
        </p:spPr>
      </p:sp>
      <p:pic>
        <p:nvPicPr>
          <p:cNvPr id="14" name="Image 0" descr="The Nets page with cards for each active net, showing its frequencies, net manager, and View, Staff and Stats buttons">    </p:cNvPr>
          <p:cNvPicPr>
            <a:picLocks noChangeAspect="1"/>
          </p:cNvPicPr>
          <p:nvPr/>
        </p:nvPicPr>
        <p:blipFill>
          <a:blip r:embed="rId1"/>
          <a:srcRect l="0" r="0" t="0" b="0"/>
          <a:stretch/>
        </p:blipFill>
        <p:spPr>
          <a:xfrm>
            <a:off x="5791218" y="2036961"/>
            <a:ext cx="5461000" cy="38226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1 · JOINING A NET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Check in and take part</a:t>
            </a:r>
            <a:endParaRPr lang="en-US" sz="3600" dirty="0">
              <a:latin typeface="Oswald" charset="0"/>
              <a:ea typeface="Oswald" charset="0"/>
              <a:cs typeface="Oswald" charset="0"/>
            </a:endParaRPr>
          </a:p>
        </p:txBody>
      </p:sp>
      <p:sp>
        <p:nvSpPr>
          <p:cNvPr id="4" name="Shape 2"/>
          <p:cNvSpPr/>
          <p:nvPr/>
        </p:nvSpPr>
        <p:spPr>
          <a:xfrm>
            <a:off x="815957" y="2285250"/>
            <a:ext cx="4489522" cy="1135342"/>
          </a:xfrm>
          <a:prstGeom prst="roundRect">
            <a:avLst>
              <a:gd name="adj" fmla="val 8669"/>
            </a:avLst>
          </a:prstGeom>
          <a:solidFill>
            <a:srgbClr val="FCFCFA"/>
          </a:solidFill>
          <a:ln w="6350">
            <a:solidFill>
              <a:srgbClr val="DFE3E8"/>
            </a:solidFill>
            <a:prstDash val="solid"/>
          </a:ln>
        </p:spPr>
      </p:sp>
      <p:sp>
        <p:nvSpPr>
          <p:cNvPr id="5" name="Text 3"/>
          <p:cNvSpPr/>
          <p:nvPr/>
        </p:nvSpPr>
        <p:spPr>
          <a:xfrm>
            <a:off x="1021728" y="2465629"/>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Press Check in</a:t>
            </a:r>
            <a:endParaRPr lang="en-US" sz="1600" dirty="0">
              <a:latin typeface="Public Sans" charset="0"/>
              <a:ea typeface="Public Sans" charset="0"/>
              <a:cs typeface="Public Sans" charset="0"/>
            </a:endParaRPr>
          </a:p>
        </p:txBody>
      </p:sp>
      <p:sp>
        <p:nvSpPr>
          <p:cNvPr id="6" name="Text 4"/>
          <p:cNvSpPr/>
          <p:nvPr/>
        </p:nvSpPr>
        <p:spPr>
          <a:xfrm>
            <a:off x="1021728" y="2760266"/>
            <a:ext cx="4200320"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Or answer the prompt when you open a running net</a:t>
            </a:r>
            <a:endParaRPr lang="en-US" sz="1400" dirty="0">
              <a:latin typeface="Public Sans" charset="0"/>
              <a:ea typeface="Public Sans" charset="0"/>
              <a:cs typeface="Public Sans" charset="0"/>
            </a:endParaRPr>
          </a:p>
        </p:txBody>
      </p:sp>
      <p:sp>
        <p:nvSpPr>
          <p:cNvPr id="7" name="Shape 5"/>
          <p:cNvSpPr/>
          <p:nvPr/>
        </p:nvSpPr>
        <p:spPr>
          <a:xfrm>
            <a:off x="815957" y="3579335"/>
            <a:ext cx="4489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759715"/>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Set your status</a:t>
            </a:r>
            <a:endParaRPr lang="en-US" sz="1600" dirty="0">
              <a:latin typeface="Public Sans" charset="0"/>
              <a:ea typeface="Public Sans" charset="0"/>
              <a:cs typeface="Public Sans" charset="0"/>
            </a:endParaRPr>
          </a:p>
        </p:txBody>
      </p:sp>
      <p:sp>
        <p:nvSpPr>
          <p:cNvPr id="9" name="Text 7"/>
          <p:cNvSpPr/>
          <p:nvPr/>
        </p:nvSpPr>
        <p:spPr>
          <a:xfrm>
            <a:off x="1021728" y="4054345"/>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Raise hand, Step away, or Just listening</a:t>
            </a:r>
            <a:endParaRPr lang="en-US" sz="1400" dirty="0">
              <a:latin typeface="Public Sans" charset="0"/>
              <a:ea typeface="Public Sans" charset="0"/>
              <a:cs typeface="Public Sans" charset="0"/>
            </a:endParaRPr>
          </a:p>
        </p:txBody>
      </p:sp>
      <p:sp>
        <p:nvSpPr>
          <p:cNvPr id="10" name="Shape 8"/>
          <p:cNvSpPr/>
          <p:nvPr/>
        </p:nvSpPr>
        <p:spPr>
          <a:xfrm>
            <a:off x="815957" y="4633441"/>
            <a:ext cx="4489522" cy="895368"/>
          </a:xfrm>
          <a:prstGeom prst="roundRect">
            <a:avLst>
              <a:gd name="adj" fmla="val 10993"/>
            </a:avLst>
          </a:prstGeom>
          <a:solidFill>
            <a:srgbClr val="FCFCFA"/>
          </a:solidFill>
          <a:ln w="6350">
            <a:solidFill>
              <a:srgbClr val="DFE3E8"/>
            </a:solidFill>
            <a:prstDash val="solid"/>
          </a:ln>
        </p:spPr>
      </p:sp>
      <p:sp>
        <p:nvSpPr>
          <p:cNvPr id="11" name="Text 9"/>
          <p:cNvSpPr/>
          <p:nvPr/>
        </p:nvSpPr>
        <p:spPr>
          <a:xfrm>
            <a:off x="1021728" y="4813821"/>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Check out when done</a:t>
            </a:r>
            <a:endParaRPr lang="en-US" sz="1600" dirty="0">
              <a:latin typeface="Public Sans" charset="0"/>
              <a:ea typeface="Public Sans" charset="0"/>
              <a:cs typeface="Public Sans" charset="0"/>
            </a:endParaRPr>
          </a:p>
        </p:txBody>
      </p:sp>
      <p:sp>
        <p:nvSpPr>
          <p:cNvPr id="12" name="Text 10"/>
          <p:cNvSpPr/>
          <p:nvPr/>
        </p:nvSpPr>
        <p:spPr>
          <a:xfrm>
            <a:off x="1021728" y="5108457"/>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Your row greys out on every screen</a:t>
            </a:r>
            <a:endParaRPr lang="en-US" sz="1400" dirty="0">
              <a:latin typeface="Public Sans" charset="0"/>
              <a:ea typeface="Public Sans" charset="0"/>
              <a:cs typeface="Public Sans" charset="0"/>
            </a:endParaRPr>
          </a:p>
        </p:txBody>
      </p:sp>
      <p:sp>
        <p:nvSpPr>
          <p:cNvPr id="13" name="Shape 11"/>
          <p:cNvSpPr/>
          <p:nvPr/>
        </p:nvSpPr>
        <p:spPr>
          <a:xfrm>
            <a:off x="5664218" y="1909961"/>
            <a:ext cx="5715000" cy="3994141"/>
          </a:xfrm>
          <a:prstGeom prst="roundRect">
            <a:avLst>
              <a:gd name="adj" fmla="val 3180"/>
            </a:avLst>
          </a:prstGeom>
          <a:solidFill>
            <a:srgbClr val="DFE5EE"/>
          </a:solidFill>
          <a:ln/>
        </p:spPr>
      </p:sp>
      <p:pic>
        <p:nvPicPr>
          <p:cNvPr id="14" name="Image 0" descr="The check-in form with callsign, name, location and other fields">    </p:cNvPr>
          <p:cNvPicPr>
            <a:picLocks noChangeAspect="1"/>
          </p:cNvPicPr>
          <p:nvPr/>
        </p:nvPicPr>
        <p:blipFill>
          <a:blip r:embed="rId1"/>
          <a:srcRect l="0" r="0" t="-24" b="-24"/>
          <a:stretch/>
        </p:blipFill>
        <p:spPr>
          <a:xfrm>
            <a:off x="5791218" y="2036961"/>
            <a:ext cx="5461000" cy="37401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1 · JOINING A NET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Chat, the map, and reminders</a:t>
            </a:r>
            <a:endParaRPr lang="en-US" sz="3600" dirty="0">
              <a:latin typeface="Oswald" charset="0"/>
              <a:ea typeface="Oswald" charset="0"/>
              <a:cs typeface="Oswald" charset="0"/>
            </a:endParaRPr>
          </a:p>
        </p:txBody>
      </p:sp>
      <p:sp>
        <p:nvSpPr>
          <p:cNvPr id="4" name="Shape 2"/>
          <p:cNvSpPr/>
          <p:nvPr/>
        </p:nvSpPr>
        <p:spPr>
          <a:xfrm>
            <a:off x="815957" y="2440167"/>
            <a:ext cx="6140522" cy="895368"/>
          </a:xfrm>
          <a:prstGeom prst="roundRect">
            <a:avLst>
              <a:gd name="adj" fmla="val 10993"/>
            </a:avLst>
          </a:prstGeom>
          <a:solidFill>
            <a:srgbClr val="FCFCFA"/>
          </a:solidFill>
          <a:ln w="6350">
            <a:solidFill>
              <a:srgbClr val="DFE3E8"/>
            </a:solidFill>
            <a:prstDash val="solid"/>
          </a:ln>
        </p:spPr>
      </p:sp>
      <p:sp>
        <p:nvSpPr>
          <p:cNvPr id="5" name="Text 3"/>
          <p:cNvSpPr/>
          <p:nvPr/>
        </p:nvSpPr>
        <p:spPr>
          <a:xfrm>
            <a:off x="1021728" y="2620547"/>
            <a:ext cx="590085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Chat alongside the net</a:t>
            </a:r>
            <a:endParaRPr lang="en-US" sz="1600" dirty="0">
              <a:latin typeface="Public Sans" charset="0"/>
              <a:ea typeface="Public Sans" charset="0"/>
              <a:cs typeface="Public Sans" charset="0"/>
            </a:endParaRPr>
          </a:p>
        </p:txBody>
      </p:sp>
      <p:sp>
        <p:nvSpPr>
          <p:cNvPr id="6" name="Text 4"/>
          <p:cNvSpPr/>
          <p:nvPr/>
        </p:nvSpPr>
        <p:spPr>
          <a:xfrm>
            <a:off x="1021728" y="2915177"/>
            <a:ext cx="590085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Reply, @mention a station, or paste a picture</a:t>
            </a:r>
            <a:endParaRPr lang="en-US" sz="1400" dirty="0">
              <a:latin typeface="Public Sans" charset="0"/>
              <a:ea typeface="Public Sans" charset="0"/>
              <a:cs typeface="Public Sans" charset="0"/>
            </a:endParaRPr>
          </a:p>
        </p:txBody>
      </p:sp>
      <p:sp>
        <p:nvSpPr>
          <p:cNvPr id="7" name="Shape 5"/>
          <p:cNvSpPr/>
          <p:nvPr/>
        </p:nvSpPr>
        <p:spPr>
          <a:xfrm>
            <a:off x="815957" y="3494274"/>
            <a:ext cx="6140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674653"/>
            <a:ext cx="590085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Put yourself on the map</a:t>
            </a:r>
            <a:endParaRPr lang="en-US" sz="1600" dirty="0">
              <a:latin typeface="Public Sans" charset="0"/>
              <a:ea typeface="Public Sans" charset="0"/>
              <a:cs typeface="Public Sans" charset="0"/>
            </a:endParaRPr>
          </a:p>
        </p:txBody>
      </p:sp>
      <p:sp>
        <p:nvSpPr>
          <p:cNvPr id="9" name="Text 7"/>
          <p:cNvSpPr/>
          <p:nvPr/>
        </p:nvSpPr>
        <p:spPr>
          <a:xfrm>
            <a:off x="1021728" y="3969290"/>
            <a:ext cx="590085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An address, grid square or coordinates in Location</a:t>
            </a:r>
            <a:endParaRPr lang="en-US" sz="1400" dirty="0">
              <a:latin typeface="Public Sans" charset="0"/>
              <a:ea typeface="Public Sans" charset="0"/>
              <a:cs typeface="Public Sans" charset="0"/>
            </a:endParaRPr>
          </a:p>
        </p:txBody>
      </p:sp>
      <p:sp>
        <p:nvSpPr>
          <p:cNvPr id="10" name="Shape 8"/>
          <p:cNvSpPr/>
          <p:nvPr/>
        </p:nvSpPr>
        <p:spPr>
          <a:xfrm>
            <a:off x="815957" y="4548386"/>
            <a:ext cx="6140522" cy="895368"/>
          </a:xfrm>
          <a:prstGeom prst="roundRect">
            <a:avLst>
              <a:gd name="adj" fmla="val 10993"/>
            </a:avLst>
          </a:prstGeom>
          <a:solidFill>
            <a:srgbClr val="FCFCFA"/>
          </a:solidFill>
          <a:ln w="6350">
            <a:solidFill>
              <a:srgbClr val="DFE3E8"/>
            </a:solidFill>
            <a:prstDash val="solid"/>
          </a:ln>
        </p:spPr>
      </p:sp>
      <p:sp>
        <p:nvSpPr>
          <p:cNvPr id="11" name="Text 9"/>
          <p:cNvSpPr/>
          <p:nvPr/>
        </p:nvSpPr>
        <p:spPr>
          <a:xfrm>
            <a:off x="1021728" y="4728766"/>
            <a:ext cx="590085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Never miss a net</a:t>
            </a:r>
            <a:endParaRPr lang="en-US" sz="1600" dirty="0">
              <a:latin typeface="Public Sans" charset="0"/>
              <a:ea typeface="Public Sans" charset="0"/>
              <a:cs typeface="Public Sans" charset="0"/>
            </a:endParaRPr>
          </a:p>
        </p:txBody>
      </p:sp>
      <p:sp>
        <p:nvSpPr>
          <p:cNvPr id="12" name="Text 10"/>
          <p:cNvSpPr/>
          <p:nvPr/>
        </p:nvSpPr>
        <p:spPr>
          <a:xfrm>
            <a:off x="1021728" y="5023396"/>
            <a:ext cx="590085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Subscribe to a schedule for an email reminder</a:t>
            </a:r>
            <a:endParaRPr lang="en-US" sz="1400" dirty="0">
              <a:latin typeface="Public Sans" charset="0"/>
              <a:ea typeface="Public Sans" charset="0"/>
              <a:cs typeface="Public Sans" charset="0"/>
            </a:endParaRPr>
          </a:p>
        </p:txBody>
      </p:sp>
      <p:sp>
        <p:nvSpPr>
          <p:cNvPr id="13" name="Shape 11"/>
          <p:cNvSpPr/>
          <p:nvPr/>
        </p:nvSpPr>
        <p:spPr>
          <a:xfrm>
            <a:off x="7315218" y="1909961"/>
            <a:ext cx="4064000" cy="4064000"/>
          </a:xfrm>
          <a:prstGeom prst="roundRect">
            <a:avLst>
              <a:gd name="adj" fmla="val 3125"/>
            </a:avLst>
          </a:prstGeom>
          <a:solidFill>
            <a:srgbClr val="DFE5EE"/>
          </a:solidFill>
          <a:ln/>
        </p:spPr>
      </p:sp>
      <p:pic>
        <p:nvPicPr>
          <p:cNvPr id="14" name="Image 0" descr="The Schedule page calendar, with each day’s nets listed in its square">    </p:cNvPr>
          <p:cNvPicPr>
            <a:picLocks noChangeAspect="1"/>
          </p:cNvPicPr>
          <p:nvPr/>
        </p:nvPicPr>
        <p:blipFill>
          <a:blip r:embed="rId1"/>
          <a:srcRect l="0" r="0" t="0" b="0"/>
          <a:stretch/>
        </p:blipFill>
        <p:spPr>
          <a:xfrm>
            <a:off x="7442218" y="2036961"/>
            <a:ext cx="3810000" cy="381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782" y="1618028"/>
            <a:ext cx="69853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Public Sans" pitchFamily="34" charset="0"/>
                <a:ea typeface="Public Sans" pitchFamily="34" charset="-122"/>
                <a:cs typeface="Public Sans" pitchFamily="34" charset="-120"/>
              </a:rPr>
              <a:t>LIVE DEMO</a:t>
            </a:r>
            <a:endParaRPr lang="en-US" sz="1200" dirty="0">
              <a:latin typeface="Public Sans" charset="0"/>
              <a:ea typeface="Public Sans" charset="0"/>
              <a:cs typeface="Public Sans" charset="0"/>
            </a:endParaRPr>
          </a:p>
        </p:txBody>
      </p:sp>
      <p:sp>
        <p:nvSpPr>
          <p:cNvPr id="3" name="Text 1"/>
          <p:cNvSpPr/>
          <p:nvPr>
            <p:ph type="title"/>
          </p:nvPr>
        </p:nvSpPr>
        <p:spPr>
          <a:xfrm>
            <a:off x="812782" y="2085349"/>
            <a:ext cx="6985328" cy="162552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13D"/>
                </a:solidFill>
                <a:latin typeface="Oswald" pitchFamily="34" charset="0"/>
                <a:ea typeface="Oswald" pitchFamily="34" charset="-122"/>
                <a:cs typeface="Oswald" pitchFamily="34" charset="-120"/>
              </a:rPr>
              <a:t>Check in from your phone</a:t>
            </a:r>
            <a:endParaRPr lang="en-US" sz="6000" dirty="0">
              <a:latin typeface="Oswald" charset="0"/>
              <a:ea typeface="Oswald" charset="0"/>
              <a:cs typeface="Oswald" charset="0"/>
            </a:endParaRPr>
          </a:p>
        </p:txBody>
      </p:sp>
      <p:sp>
        <p:nvSpPr>
          <p:cNvPr id="4" name="Text 2"/>
          <p:cNvSpPr/>
          <p:nvPr/>
        </p:nvSpPr>
        <p:spPr>
          <a:xfrm>
            <a:off x="814180" y="3939480"/>
            <a:ext cx="6976310" cy="1325887"/>
          </a:xfrm>
          <a:prstGeom prst="rect">
            <a:avLst/>
          </a:prstGeom>
          <a:noFill/>
          <a:ln/>
        </p:spPr>
        <p:txBody>
          <a:bodyPr wrap="square" lIns="0" tIns="0" rIns="0" bIns="0" rtlCol="0" anchor="t">
            <a:normAutofit/>
          </a:bodyPr>
          <a:lstStyle/>
          <a:p>
            <a:pPr algn="l" marL="252602" indent="-252602">
              <a:lnSpc>
                <a:spcPts val="2560"/>
              </a:lnSpc>
              <a:buSzPct val="100000"/>
              <a:buFontTx/>
              <a:buAutoNum type="arabicPeriod" startAt="1"/>
            </a:pPr>
            <a:r>
              <a:rPr lang="en-US" sz="1600" dirty="0">
                <a:solidFill>
                  <a:srgbClr val="14213D"/>
                </a:solidFill>
                <a:latin typeface="Public Sans" pitchFamily="34" charset="0"/>
                <a:ea typeface="Public Sans" pitchFamily="34" charset="-122"/>
                <a:cs typeface="Public Sans" pitchFamily="34" charset="-120"/>
              </a:rPr>
              <a:t>Scan the code, or go to app.ectlogger.us</a:t>
            </a:r>
            <a:endParaRPr lang="en-US" sz="1600" dirty="0">
              <a:latin typeface="Public Sans" charset="0"/>
              <a:ea typeface="Public Sans" charset="0"/>
              <a:cs typeface="Public Sans" charset="0"/>
            </a:endParaRPr>
          </a:p>
          <a:p>
            <a:pPr algn="l" marL="252602" indent="-252602">
              <a:lnSpc>
                <a:spcPts val="2560"/>
              </a:lnSpc>
              <a:buSzPct val="100000"/>
              <a:buFontTx/>
              <a:buAutoNum type="arabicPeriod" startAt="1"/>
            </a:pPr>
            <a:r>
              <a:rPr lang="en-US" sz="1600" dirty="0">
                <a:solidFill>
                  <a:srgbClr val="14213D"/>
                </a:solidFill>
                <a:latin typeface="Public Sans" pitchFamily="34" charset="0"/>
                <a:ea typeface="Public Sans" pitchFamily="34" charset="-122"/>
                <a:cs typeface="Public Sans" pitchFamily="34" charset="-120"/>
              </a:rPr>
              <a:t>Sign in with your email</a:t>
            </a:r>
            <a:endParaRPr lang="en-US" sz="1600" dirty="0">
              <a:latin typeface="Public Sans" charset="0"/>
              <a:ea typeface="Public Sans" charset="0"/>
              <a:cs typeface="Public Sans" charset="0"/>
            </a:endParaRPr>
          </a:p>
          <a:p>
            <a:pPr algn="l" marL="252602" indent="-252602">
              <a:lnSpc>
                <a:spcPts val="2560"/>
              </a:lnSpc>
              <a:buSzPct val="100000"/>
              <a:buFontTx/>
              <a:buAutoNum type="arabicPeriod" startAt="1"/>
            </a:pPr>
            <a:r>
              <a:rPr lang="en-US" sz="1600" dirty="0">
                <a:solidFill>
                  <a:srgbClr val="14213D"/>
                </a:solidFill>
                <a:latin typeface="Public Sans" pitchFamily="34" charset="0"/>
                <a:ea typeface="Public Sans" pitchFamily="34" charset="-122"/>
                <a:cs typeface="Public Sans" pitchFamily="34" charset="-120"/>
              </a:rPr>
              <a:t>Open </a:t>
            </a:r>
            <a:r>
              <a:rPr lang="en-US" sz="1600" b="1" dirty="0">
                <a:solidFill>
                  <a:srgbClr val="14213D"/>
                </a:solidFill>
                <a:latin typeface="Public Sans" pitchFamily="34" charset="0"/>
                <a:ea typeface="Public Sans" pitchFamily="34" charset="-122"/>
                <a:cs typeface="Public Sans" pitchFamily="34" charset="-120"/>
              </a:rPr>
              <a:t>[demo net name]</a:t>
            </a:r>
            <a:r>
              <a:rPr lang="en-US" sz="1600" dirty="0">
                <a:solidFill>
                  <a:srgbClr val="14213D"/>
                </a:solidFill>
                <a:latin typeface="Public Sans" pitchFamily="34" charset="0"/>
                <a:ea typeface="Public Sans" pitchFamily="34" charset="-122"/>
                <a:cs typeface="Public Sans" pitchFamily="34" charset="-120"/>
              </a:rPr>
              <a:t> on Nets</a:t>
            </a:r>
            <a:endParaRPr lang="en-US" sz="1600" dirty="0">
              <a:latin typeface="Public Sans" charset="0"/>
              <a:ea typeface="Public Sans" charset="0"/>
              <a:cs typeface="Public Sans" charset="0"/>
            </a:endParaRPr>
          </a:p>
          <a:p>
            <a:pPr algn="l" marL="252602" indent="-252602">
              <a:lnSpc>
                <a:spcPts val="2560"/>
              </a:lnSpc>
              <a:buSzPct val="100000"/>
              <a:buFontTx/>
              <a:buAutoNum type="arabicPeriod" startAt="1"/>
            </a:pPr>
            <a:r>
              <a:rPr lang="en-US" sz="1600" dirty="0">
                <a:solidFill>
                  <a:srgbClr val="14213D"/>
                </a:solidFill>
                <a:latin typeface="Public Sans" pitchFamily="34" charset="0"/>
                <a:ea typeface="Public Sans" pitchFamily="34" charset="-122"/>
                <a:cs typeface="Public Sans" pitchFamily="34" charset="-120"/>
              </a:rPr>
              <a:t>Press Check in, then raise your hand</a:t>
            </a:r>
            <a:endParaRPr lang="en-US" sz="1600" dirty="0">
              <a:latin typeface="Public Sans" charset="0"/>
              <a:ea typeface="Public Sans" charset="0"/>
              <a:cs typeface="Public Sans" charset="0"/>
            </a:endParaRPr>
          </a:p>
        </p:txBody>
      </p:sp>
      <p:sp>
        <p:nvSpPr>
          <p:cNvPr id="5" name="Shape 3"/>
          <p:cNvSpPr/>
          <p:nvPr/>
        </p:nvSpPr>
        <p:spPr>
          <a:xfrm>
            <a:off x="8204218" y="1623039"/>
            <a:ext cx="3175000" cy="3611878"/>
          </a:xfrm>
          <a:prstGeom prst="roundRect">
            <a:avLst>
              <a:gd name="adj" fmla="val 4800"/>
            </a:avLst>
          </a:prstGeom>
          <a:solidFill>
            <a:srgbClr val="FCFCFA"/>
          </a:solidFill>
          <a:ln/>
        </p:spPr>
      </p:sp>
      <p:pic>
        <p:nvPicPr>
          <p:cNvPr id="6" name="Image 0" descr="QR code for app.ectlogger.us">    </p:cNvPr>
          <p:cNvPicPr>
            <a:picLocks noChangeAspect="1"/>
          </p:cNvPicPr>
          <p:nvPr/>
        </p:nvPicPr>
        <p:blipFill>
          <a:blip r:embed="rId1"/>
          <a:srcRect l="0" r="0" t="0" b="0"/>
          <a:stretch/>
        </p:blipFill>
        <p:spPr>
          <a:xfrm>
            <a:off x="8458218" y="1877039"/>
            <a:ext cx="2667000" cy="2667000"/>
          </a:xfrm>
          <a:prstGeom prst="rect">
            <a:avLst/>
          </a:prstGeom>
        </p:spPr>
      </p:pic>
      <p:sp>
        <p:nvSpPr>
          <p:cNvPr id="7" name="Text 4"/>
          <p:cNvSpPr/>
          <p:nvPr/>
        </p:nvSpPr>
        <p:spPr>
          <a:xfrm>
            <a:off x="8815464" y="4696427"/>
            <a:ext cx="1952463" cy="30988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app.ectlogger.us</a:t>
            </a:r>
            <a:endParaRPr lang="en-US" sz="1600" dirty="0">
              <a:latin typeface="Public Sans" charset="0"/>
              <a:ea typeface="Public Sans" charset="0"/>
              <a:cs typeface="Public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391" cy="6858000"/>
          </a:xfrm>
          <a:prstGeom prst="rect">
            <a:avLst/>
          </a:prstGeom>
          <a:solidFill>
            <a:srgbClr val="1E88E5"/>
          </a:solidFill>
          <a:ln/>
        </p:spPr>
      </p:sp>
      <p:sp>
        <p:nvSpPr>
          <p:cNvPr id="3" name="Text 1"/>
          <p:cNvSpPr/>
          <p:nvPr/>
        </p:nvSpPr>
        <p:spPr>
          <a:xfrm>
            <a:off x="812782" y="258830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B8F5"/>
                </a:solidFill>
                <a:latin typeface="Public Sans" pitchFamily="34" charset="0"/>
                <a:ea typeface="Public Sans" pitchFamily="34" charset="-122"/>
                <a:cs typeface="Public Sans" pitchFamily="34" charset="-120"/>
              </a:rPr>
              <a:t>PART 2</a:t>
            </a:r>
            <a:endParaRPr lang="en-US" sz="1200" dirty="0">
              <a:latin typeface="Public Sans" charset="0"/>
              <a:ea typeface="Public Sans" charset="0"/>
              <a:cs typeface="Public Sans" charset="0"/>
            </a:endParaRPr>
          </a:p>
        </p:txBody>
      </p:sp>
      <p:sp>
        <p:nvSpPr>
          <p:cNvPr id="4" name="Text 2"/>
          <p:cNvSpPr/>
          <p:nvPr>
            <p:ph type="title"/>
          </p:nvPr>
        </p:nvSpPr>
        <p:spPr>
          <a:xfrm>
            <a:off x="812782" y="2954009"/>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Oswald" pitchFamily="34" charset="0"/>
                <a:ea typeface="Oswald" pitchFamily="34" charset="-122"/>
                <a:cs typeface="Oswald" pitchFamily="34" charset="-120"/>
              </a:rPr>
              <a:t>Running a club net</a:t>
            </a:r>
            <a:endParaRPr lang="en-US" sz="6000" dirty="0">
              <a:latin typeface="Oswald" charset="0"/>
              <a:ea typeface="Oswald" charset="0"/>
              <a:cs typeface="Oswald" charset="0"/>
            </a:endParaRPr>
          </a:p>
        </p:txBody>
      </p:sp>
      <p:sp>
        <p:nvSpPr>
          <p:cNvPr id="5" name="Text 3"/>
          <p:cNvSpPr/>
          <p:nvPr/>
        </p:nvSpPr>
        <p:spPr>
          <a:xfrm>
            <a:off x="812782" y="3906465"/>
            <a:ext cx="10883429" cy="38858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5E3"/>
                </a:solidFill>
                <a:latin typeface="Public Sans" pitchFamily="34" charset="0"/>
                <a:ea typeface="Public Sans" pitchFamily="34" charset="-122"/>
                <a:cs typeface="Public Sans" pitchFamily="34" charset="-120"/>
              </a:rPr>
              <a:t>For net control, loggers and net managers</a:t>
            </a:r>
            <a:endParaRPr lang="en-US" sz="2200" dirty="0">
              <a:latin typeface="Public Sans" charset="0"/>
              <a:ea typeface="Public Sans" charset="0"/>
              <a:cs typeface="Public Sans"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2 · RUNNING A CLUB NET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A schedule that runs itself</a:t>
            </a:r>
            <a:endParaRPr lang="en-US" sz="3600" dirty="0">
              <a:latin typeface="Oswald" charset="0"/>
              <a:ea typeface="Oswald" charset="0"/>
              <a:cs typeface="Oswald" charset="0"/>
            </a:endParaRPr>
          </a:p>
        </p:txBody>
      </p:sp>
      <p:sp>
        <p:nvSpPr>
          <p:cNvPr id="4" name="Shape 2"/>
          <p:cNvSpPr/>
          <p:nvPr/>
        </p:nvSpPr>
        <p:spPr>
          <a:xfrm>
            <a:off x="815957" y="1913136"/>
            <a:ext cx="7435958" cy="895368"/>
          </a:xfrm>
          <a:prstGeom prst="roundRect">
            <a:avLst>
              <a:gd name="adj" fmla="val 10993"/>
            </a:avLst>
          </a:prstGeom>
          <a:solidFill>
            <a:srgbClr val="FCFCFA"/>
          </a:solidFill>
          <a:ln w="6350">
            <a:solidFill>
              <a:srgbClr val="DFE3E8"/>
            </a:solidFill>
            <a:prstDash val="solid"/>
          </a:ln>
        </p:spPr>
      </p:sp>
      <p:sp>
        <p:nvSpPr>
          <p:cNvPr id="5" name="Text 3"/>
          <p:cNvSpPr/>
          <p:nvPr/>
        </p:nvSpPr>
        <p:spPr>
          <a:xfrm>
            <a:off x="1021728" y="2093516"/>
            <a:ext cx="7235149"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Set it up once</a:t>
            </a:r>
            <a:endParaRPr lang="en-US" sz="1600" dirty="0">
              <a:latin typeface="Public Sans" charset="0"/>
              <a:ea typeface="Public Sans" charset="0"/>
              <a:cs typeface="Public Sans" charset="0"/>
            </a:endParaRPr>
          </a:p>
        </p:txBody>
      </p:sp>
      <p:sp>
        <p:nvSpPr>
          <p:cNvPr id="6" name="Text 4"/>
          <p:cNvSpPr/>
          <p:nvPr/>
        </p:nvSpPr>
        <p:spPr>
          <a:xfrm>
            <a:off x="1021728" y="2388146"/>
            <a:ext cx="7235149"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Each week’s net is created for you, frequencies and all</a:t>
            </a:r>
            <a:endParaRPr lang="en-US" sz="1400" dirty="0">
              <a:latin typeface="Public Sans" charset="0"/>
              <a:ea typeface="Public Sans" charset="0"/>
              <a:cs typeface="Public Sans" charset="0"/>
            </a:endParaRPr>
          </a:p>
        </p:txBody>
      </p:sp>
      <p:sp>
        <p:nvSpPr>
          <p:cNvPr id="7" name="Shape 5"/>
          <p:cNvSpPr/>
          <p:nvPr/>
        </p:nvSpPr>
        <p:spPr>
          <a:xfrm>
            <a:off x="815957" y="2967242"/>
            <a:ext cx="7435958"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147622"/>
            <a:ext cx="7235149"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Net staff and a rotation</a:t>
            </a:r>
            <a:endParaRPr lang="en-US" sz="1600" dirty="0">
              <a:latin typeface="Public Sans" charset="0"/>
              <a:ea typeface="Public Sans" charset="0"/>
              <a:cs typeface="Public Sans" charset="0"/>
            </a:endParaRPr>
          </a:p>
        </p:txBody>
      </p:sp>
      <p:sp>
        <p:nvSpPr>
          <p:cNvPr id="9" name="Text 7"/>
          <p:cNvSpPr/>
          <p:nvPr/>
        </p:nvSpPr>
        <p:spPr>
          <a:xfrm>
            <a:off x="1021728" y="3442258"/>
            <a:ext cx="7235149"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Everyone knows whose week it is, and swaps are easy</a:t>
            </a:r>
            <a:endParaRPr lang="en-US" sz="1400" dirty="0">
              <a:latin typeface="Public Sans" charset="0"/>
              <a:ea typeface="Public Sans" charset="0"/>
              <a:cs typeface="Public Sans" charset="0"/>
            </a:endParaRPr>
          </a:p>
        </p:txBody>
      </p:sp>
      <p:sp>
        <p:nvSpPr>
          <p:cNvPr id="10" name="Shape 8"/>
          <p:cNvSpPr/>
          <p:nvPr/>
        </p:nvSpPr>
        <p:spPr>
          <a:xfrm>
            <a:off x="815957" y="4021348"/>
            <a:ext cx="7435958" cy="895368"/>
          </a:xfrm>
          <a:prstGeom prst="roundRect">
            <a:avLst>
              <a:gd name="adj" fmla="val 10993"/>
            </a:avLst>
          </a:prstGeom>
          <a:solidFill>
            <a:srgbClr val="FCFCFA"/>
          </a:solidFill>
          <a:ln w="6350">
            <a:solidFill>
              <a:srgbClr val="DFE3E8"/>
            </a:solidFill>
            <a:prstDash val="solid"/>
          </a:ln>
        </p:spPr>
      </p:sp>
      <p:sp>
        <p:nvSpPr>
          <p:cNvPr id="11" name="Text 9"/>
          <p:cNvSpPr/>
          <p:nvPr/>
        </p:nvSpPr>
        <p:spPr>
          <a:xfrm>
            <a:off x="1021728" y="4201728"/>
            <a:ext cx="7235149"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Reminders go out</a:t>
            </a:r>
            <a:endParaRPr lang="en-US" sz="1600" dirty="0">
              <a:latin typeface="Public Sans" charset="0"/>
              <a:ea typeface="Public Sans" charset="0"/>
              <a:cs typeface="Public Sans" charset="0"/>
            </a:endParaRPr>
          </a:p>
        </p:txBody>
      </p:sp>
      <p:sp>
        <p:nvSpPr>
          <p:cNvPr id="12" name="Text 10"/>
          <p:cNvSpPr/>
          <p:nvPr/>
        </p:nvSpPr>
        <p:spPr>
          <a:xfrm>
            <a:off x="1021728" y="4496364"/>
            <a:ext cx="7235149"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To the NCS on duty, and to anyone subscribed</a:t>
            </a:r>
            <a:endParaRPr lang="en-US" sz="1400" dirty="0">
              <a:latin typeface="Public Sans" charset="0"/>
              <a:ea typeface="Public Sans" charset="0"/>
              <a:cs typeface="Public Sans" charset="0"/>
            </a:endParaRPr>
          </a:p>
        </p:txBody>
      </p:sp>
      <p:sp>
        <p:nvSpPr>
          <p:cNvPr id="13" name="Shape 11"/>
          <p:cNvSpPr/>
          <p:nvPr/>
        </p:nvSpPr>
        <p:spPr>
          <a:xfrm>
            <a:off x="815957" y="5075461"/>
            <a:ext cx="7435958" cy="895368"/>
          </a:xfrm>
          <a:prstGeom prst="roundRect">
            <a:avLst>
              <a:gd name="adj" fmla="val 10993"/>
            </a:avLst>
          </a:prstGeom>
          <a:solidFill>
            <a:srgbClr val="FCFCFA"/>
          </a:solidFill>
          <a:ln w="6350">
            <a:solidFill>
              <a:srgbClr val="DFE3E8"/>
            </a:solidFill>
            <a:prstDash val="solid"/>
          </a:ln>
        </p:spPr>
      </p:sp>
      <p:sp>
        <p:nvSpPr>
          <p:cNvPr id="14" name="Text 12"/>
          <p:cNvSpPr/>
          <p:nvPr/>
        </p:nvSpPr>
        <p:spPr>
          <a:xfrm>
            <a:off x="1021728" y="5255840"/>
            <a:ext cx="7235149"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One-time net?</a:t>
            </a:r>
            <a:endParaRPr lang="en-US" sz="1600" dirty="0">
              <a:latin typeface="Public Sans" charset="0"/>
              <a:ea typeface="Public Sans" charset="0"/>
              <a:cs typeface="Public Sans" charset="0"/>
            </a:endParaRPr>
          </a:p>
        </p:txBody>
      </p:sp>
      <p:sp>
        <p:nvSpPr>
          <p:cNvPr id="15" name="Text 13"/>
          <p:cNvSpPr/>
          <p:nvPr/>
        </p:nvSpPr>
        <p:spPr>
          <a:xfrm>
            <a:off x="1021728" y="5550477"/>
            <a:ext cx="7235149"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The + button on Nets sets one up in a minute</a:t>
            </a:r>
            <a:endParaRPr lang="en-US" sz="1400" dirty="0">
              <a:latin typeface="Public Sans" charset="0"/>
              <a:ea typeface="Public Sans" charset="0"/>
              <a:cs typeface="Public Sans" charset="0"/>
            </a:endParaRPr>
          </a:p>
        </p:txBody>
      </p:sp>
      <p:sp>
        <p:nvSpPr>
          <p:cNvPr id="16" name="Shape 14"/>
          <p:cNvSpPr/>
          <p:nvPr/>
        </p:nvSpPr>
        <p:spPr>
          <a:xfrm>
            <a:off x="8610653" y="1909961"/>
            <a:ext cx="2768564" cy="4064000"/>
          </a:xfrm>
          <a:prstGeom prst="roundRect">
            <a:avLst>
              <a:gd name="adj" fmla="val 4587"/>
            </a:avLst>
          </a:prstGeom>
          <a:solidFill>
            <a:srgbClr val="DFE5EE"/>
          </a:solidFill>
          <a:ln/>
        </p:spPr>
      </p:sp>
      <p:pic>
        <p:nvPicPr>
          <p:cNvPr id="17" name="Image 0" descr="The schedule’s Staff window, listing net staff and the NCS rotation with upcoming dates">    </p:cNvPr>
          <p:cNvPicPr>
            <a:picLocks noChangeAspect="1"/>
          </p:cNvPicPr>
          <p:nvPr/>
        </p:nvPicPr>
        <p:blipFill>
          <a:blip r:embed="rId1"/>
          <a:srcRect l="-279" r="-279" t="0" b="0"/>
          <a:stretch/>
        </p:blipFill>
        <p:spPr>
          <a:xfrm>
            <a:off x="8737653" y="2036961"/>
            <a:ext cx="2514564" cy="381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2 · RUNNING A CLUB NET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7"/>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At the net control desk</a:t>
            </a:r>
            <a:endParaRPr lang="en-US" sz="3600" dirty="0">
              <a:latin typeface="Oswald" charset="0"/>
              <a:ea typeface="Oswald" charset="0"/>
              <a:cs typeface="Oswald" charset="0"/>
            </a:endParaRPr>
          </a:p>
        </p:txBody>
      </p:sp>
      <p:sp>
        <p:nvSpPr>
          <p:cNvPr id="4" name="Shape 2"/>
          <p:cNvSpPr/>
          <p:nvPr/>
        </p:nvSpPr>
        <p:spPr>
          <a:xfrm>
            <a:off x="815957" y="1951205"/>
            <a:ext cx="4489522" cy="895368"/>
          </a:xfrm>
          <a:prstGeom prst="roundRect">
            <a:avLst>
              <a:gd name="adj" fmla="val 10993"/>
            </a:avLst>
          </a:prstGeom>
          <a:solidFill>
            <a:srgbClr val="FCFCFA"/>
          </a:solidFill>
          <a:ln w="6350">
            <a:solidFill>
              <a:srgbClr val="DFE3E8"/>
            </a:solidFill>
            <a:prstDash val="solid"/>
          </a:ln>
        </p:spPr>
      </p:sp>
      <p:sp>
        <p:nvSpPr>
          <p:cNvPr id="5" name="Text 3"/>
          <p:cNvSpPr/>
          <p:nvPr/>
        </p:nvSpPr>
        <p:spPr>
          <a:xfrm>
            <a:off x="1021728" y="2131585"/>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Open lobby, then Start net</a:t>
            </a:r>
            <a:endParaRPr lang="en-US" sz="1600" dirty="0">
              <a:latin typeface="Public Sans" charset="0"/>
              <a:ea typeface="Public Sans" charset="0"/>
              <a:cs typeface="Public Sans" charset="0"/>
            </a:endParaRPr>
          </a:p>
        </p:txBody>
      </p:sp>
      <p:sp>
        <p:nvSpPr>
          <p:cNvPr id="6" name="Text 4"/>
          <p:cNvSpPr/>
          <p:nvPr/>
        </p:nvSpPr>
        <p:spPr>
          <a:xfrm>
            <a:off x="1021728" y="2426215"/>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Stations gather and check in before you begin</a:t>
            </a:r>
            <a:endParaRPr lang="en-US" sz="1400" dirty="0">
              <a:latin typeface="Public Sans" charset="0"/>
              <a:ea typeface="Public Sans" charset="0"/>
              <a:cs typeface="Public Sans" charset="0"/>
            </a:endParaRPr>
          </a:p>
        </p:txBody>
      </p:sp>
      <p:sp>
        <p:nvSpPr>
          <p:cNvPr id="7" name="Shape 5"/>
          <p:cNvSpPr/>
          <p:nvPr/>
        </p:nvSpPr>
        <p:spPr>
          <a:xfrm>
            <a:off x="815957" y="3005311"/>
            <a:ext cx="4489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185691"/>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Check in as NCS or Logger</a:t>
            </a:r>
            <a:endParaRPr lang="en-US" sz="1600" dirty="0">
              <a:latin typeface="Public Sans" charset="0"/>
              <a:ea typeface="Public Sans" charset="0"/>
              <a:cs typeface="Public Sans" charset="0"/>
            </a:endParaRPr>
          </a:p>
        </p:txBody>
      </p:sp>
      <p:sp>
        <p:nvSpPr>
          <p:cNvPr id="9" name="Text 7"/>
          <p:cNvSpPr/>
          <p:nvPr/>
        </p:nvSpPr>
        <p:spPr>
          <a:xfrm>
            <a:off x="1021728" y="3480327"/>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Net staff take the desk just by checking in</a:t>
            </a:r>
            <a:endParaRPr lang="en-US" sz="1400" dirty="0">
              <a:latin typeface="Public Sans" charset="0"/>
              <a:ea typeface="Public Sans" charset="0"/>
              <a:cs typeface="Public Sans" charset="0"/>
            </a:endParaRPr>
          </a:p>
        </p:txBody>
      </p:sp>
      <p:sp>
        <p:nvSpPr>
          <p:cNvPr id="10" name="Shape 8"/>
          <p:cNvSpPr/>
          <p:nvPr/>
        </p:nvSpPr>
        <p:spPr>
          <a:xfrm>
            <a:off x="815957" y="4059424"/>
            <a:ext cx="4489522" cy="895368"/>
          </a:xfrm>
          <a:prstGeom prst="roundRect">
            <a:avLst>
              <a:gd name="adj" fmla="val 10993"/>
            </a:avLst>
          </a:prstGeom>
          <a:solidFill>
            <a:srgbClr val="FCFCFA"/>
          </a:solidFill>
          <a:ln w="6350">
            <a:solidFill>
              <a:srgbClr val="DFE3E8"/>
            </a:solidFill>
            <a:prstDash val="solid"/>
          </a:ln>
        </p:spPr>
      </p:sp>
      <p:sp>
        <p:nvSpPr>
          <p:cNvPr id="11" name="Text 9"/>
          <p:cNvSpPr/>
          <p:nvPr/>
        </p:nvSpPr>
        <p:spPr>
          <a:xfrm>
            <a:off x="1021728" y="4239803"/>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Log stations fast</a:t>
            </a:r>
            <a:endParaRPr lang="en-US" sz="1600" dirty="0">
              <a:latin typeface="Public Sans" charset="0"/>
              <a:ea typeface="Public Sans" charset="0"/>
              <a:cs typeface="Public Sans" charset="0"/>
            </a:endParaRPr>
          </a:p>
        </p:txBody>
      </p:sp>
      <p:sp>
        <p:nvSpPr>
          <p:cNvPr id="12" name="Text 10"/>
          <p:cNvSpPr/>
          <p:nvPr/>
        </p:nvSpPr>
        <p:spPr>
          <a:xfrm>
            <a:off x="1021728" y="4534433"/>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Type a callsign and go, or Bulk add a whole list</a:t>
            </a:r>
            <a:endParaRPr lang="en-US" sz="1400" dirty="0">
              <a:latin typeface="Public Sans" charset="0"/>
              <a:ea typeface="Public Sans" charset="0"/>
              <a:cs typeface="Public Sans" charset="0"/>
            </a:endParaRPr>
          </a:p>
        </p:txBody>
      </p:sp>
      <p:sp>
        <p:nvSpPr>
          <p:cNvPr id="13" name="Shape 11"/>
          <p:cNvSpPr/>
          <p:nvPr/>
        </p:nvSpPr>
        <p:spPr>
          <a:xfrm>
            <a:off x="5664218" y="1909961"/>
            <a:ext cx="5715000" cy="3086064"/>
          </a:xfrm>
          <a:prstGeom prst="roundRect">
            <a:avLst>
              <a:gd name="adj" fmla="val 4115"/>
            </a:avLst>
          </a:prstGeom>
          <a:solidFill>
            <a:srgbClr val="DFE5EE"/>
          </a:solidFill>
          <a:ln/>
        </p:spPr>
      </p:sp>
      <p:pic>
        <p:nvPicPr>
          <p:cNvPr id="14" name="Image 0" descr="The Bulk add window with several callsigns typed in, one per line">    </p:cNvPr>
          <p:cNvPicPr>
            <a:picLocks noChangeAspect="1"/>
          </p:cNvPicPr>
          <p:nvPr/>
        </p:nvPicPr>
        <p:blipFill>
          <a:blip r:embed="rId1"/>
          <a:srcRect l="0" r="0" t="-150" b="-150"/>
          <a:stretch/>
        </p:blipFill>
        <p:spPr>
          <a:xfrm>
            <a:off x="5791218" y="2036961"/>
            <a:ext cx="5461000" cy="28320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2 · RUNNING A CLUB NET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7"/>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Close the net, keep the log</a:t>
            </a:r>
            <a:endParaRPr lang="en-US" sz="3600" dirty="0">
              <a:latin typeface="Oswald" charset="0"/>
              <a:ea typeface="Oswald" charset="0"/>
              <a:cs typeface="Oswald" charset="0"/>
            </a:endParaRPr>
          </a:p>
        </p:txBody>
      </p:sp>
      <p:sp>
        <p:nvSpPr>
          <p:cNvPr id="4" name="Shape 2"/>
          <p:cNvSpPr/>
          <p:nvPr/>
        </p:nvSpPr>
        <p:spPr>
          <a:xfrm>
            <a:off x="815957" y="2326518"/>
            <a:ext cx="4489522" cy="895368"/>
          </a:xfrm>
          <a:prstGeom prst="roundRect">
            <a:avLst>
              <a:gd name="adj" fmla="val 10993"/>
            </a:avLst>
          </a:prstGeom>
          <a:solidFill>
            <a:srgbClr val="FCFCFA"/>
          </a:solidFill>
          <a:ln w="6350">
            <a:solidFill>
              <a:srgbClr val="DFE3E8"/>
            </a:solidFill>
            <a:prstDash val="solid"/>
          </a:ln>
        </p:spPr>
      </p:sp>
      <p:sp>
        <p:nvSpPr>
          <p:cNvPr id="5" name="Text 3"/>
          <p:cNvSpPr/>
          <p:nvPr/>
        </p:nvSpPr>
        <p:spPr>
          <a:xfrm>
            <a:off x="1021728" y="2506898"/>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Send it now, or later</a:t>
            </a:r>
            <a:endParaRPr lang="en-US" sz="1600" dirty="0">
              <a:latin typeface="Public Sans" charset="0"/>
              <a:ea typeface="Public Sans" charset="0"/>
              <a:cs typeface="Public Sans" charset="0"/>
            </a:endParaRPr>
          </a:p>
        </p:txBody>
      </p:sp>
      <p:sp>
        <p:nvSpPr>
          <p:cNvPr id="6" name="Text 4"/>
          <p:cNvSpPr/>
          <p:nvPr/>
        </p:nvSpPr>
        <p:spPr>
          <a:xfrm>
            <a:off x="1021728" y="2801534"/>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Finish the log later to add offline logs first</a:t>
            </a:r>
            <a:endParaRPr lang="en-US" sz="1400" dirty="0">
              <a:latin typeface="Public Sans" charset="0"/>
              <a:ea typeface="Public Sans" charset="0"/>
              <a:cs typeface="Public Sans" charset="0"/>
            </a:endParaRPr>
          </a:p>
        </p:txBody>
      </p:sp>
      <p:sp>
        <p:nvSpPr>
          <p:cNvPr id="7" name="Shape 5"/>
          <p:cNvSpPr/>
          <p:nvPr/>
        </p:nvSpPr>
        <p:spPr>
          <a:xfrm>
            <a:off x="815957" y="3380631"/>
            <a:ext cx="4489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561011"/>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Report and ICS-309</a:t>
            </a:r>
            <a:endParaRPr lang="en-US" sz="1600" dirty="0">
              <a:latin typeface="Public Sans" charset="0"/>
              <a:ea typeface="Public Sans" charset="0"/>
              <a:cs typeface="Public Sans" charset="0"/>
            </a:endParaRPr>
          </a:p>
        </p:txBody>
      </p:sp>
      <p:sp>
        <p:nvSpPr>
          <p:cNvPr id="9" name="Text 7"/>
          <p:cNvSpPr/>
          <p:nvPr/>
        </p:nvSpPr>
        <p:spPr>
          <a:xfrm>
            <a:off x="1021728" y="3855641"/>
            <a:ext cx="420032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One click each; the report leads with your logo</a:t>
            </a:r>
            <a:endParaRPr lang="en-US" sz="1400" dirty="0">
              <a:latin typeface="Public Sans" charset="0"/>
              <a:ea typeface="Public Sans" charset="0"/>
              <a:cs typeface="Public Sans" charset="0"/>
            </a:endParaRPr>
          </a:p>
        </p:txBody>
      </p:sp>
      <p:sp>
        <p:nvSpPr>
          <p:cNvPr id="10" name="Shape 8"/>
          <p:cNvSpPr/>
          <p:nvPr/>
        </p:nvSpPr>
        <p:spPr>
          <a:xfrm>
            <a:off x="815957" y="4434737"/>
            <a:ext cx="4489522" cy="1135342"/>
          </a:xfrm>
          <a:prstGeom prst="roundRect">
            <a:avLst>
              <a:gd name="adj" fmla="val 8669"/>
            </a:avLst>
          </a:prstGeom>
          <a:solidFill>
            <a:srgbClr val="FCFCFA"/>
          </a:solidFill>
          <a:ln w="6350">
            <a:solidFill>
              <a:srgbClr val="DFE3E8"/>
            </a:solidFill>
            <a:prstDash val="solid"/>
          </a:ln>
        </p:spPr>
      </p:sp>
      <p:sp>
        <p:nvSpPr>
          <p:cNvPr id="11" name="Text 9"/>
          <p:cNvSpPr/>
          <p:nvPr/>
        </p:nvSpPr>
        <p:spPr>
          <a:xfrm>
            <a:off x="1021728" y="4615117"/>
            <a:ext cx="420032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Trends on Stats</a:t>
            </a:r>
            <a:endParaRPr lang="en-US" sz="1600" dirty="0">
              <a:latin typeface="Public Sans" charset="0"/>
              <a:ea typeface="Public Sans" charset="0"/>
              <a:cs typeface="Public Sans" charset="0"/>
            </a:endParaRPr>
          </a:p>
        </p:txBody>
      </p:sp>
      <p:sp>
        <p:nvSpPr>
          <p:cNvPr id="12" name="Text 10"/>
          <p:cNvSpPr/>
          <p:nvPr/>
        </p:nvSpPr>
        <p:spPr>
          <a:xfrm>
            <a:off x="1021728" y="4909753"/>
            <a:ext cx="4200320"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Turnout over time and your regulars, per schedule</a:t>
            </a:r>
            <a:endParaRPr lang="en-US" sz="1400" dirty="0">
              <a:latin typeface="Public Sans" charset="0"/>
              <a:ea typeface="Public Sans" charset="0"/>
              <a:cs typeface="Public Sans" charset="0"/>
            </a:endParaRPr>
          </a:p>
        </p:txBody>
      </p:sp>
      <p:sp>
        <p:nvSpPr>
          <p:cNvPr id="13" name="Shape 11"/>
          <p:cNvSpPr/>
          <p:nvPr/>
        </p:nvSpPr>
        <p:spPr>
          <a:xfrm>
            <a:off x="5664218" y="1909961"/>
            <a:ext cx="5715000" cy="4076673"/>
          </a:xfrm>
          <a:prstGeom prst="roundRect">
            <a:avLst>
              <a:gd name="adj" fmla="val 3115"/>
            </a:avLst>
          </a:prstGeom>
          <a:solidFill>
            <a:srgbClr val="DFE5EE"/>
          </a:solidFill>
          <a:ln/>
        </p:spPr>
      </p:sp>
      <p:pic>
        <p:nvPicPr>
          <p:cNvPr id="14" name="Image 0" descr="The Close net window, offering Close and send the log, or Finish the log later">    </p:cNvPr>
          <p:cNvPicPr>
            <a:picLocks noChangeAspect="1"/>
          </p:cNvPicPr>
          <p:nvPr/>
        </p:nvPicPr>
        <p:blipFill>
          <a:blip r:embed="rId1"/>
          <a:srcRect l="-23" r="-23" t="0" b="0"/>
          <a:stretch/>
        </p:blipFill>
        <p:spPr>
          <a:xfrm>
            <a:off x="5791218" y="2036961"/>
            <a:ext cx="5461000" cy="38226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782" y="230761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Public Sans" pitchFamily="34" charset="0"/>
                <a:ea typeface="Public Sans" pitchFamily="34" charset="-122"/>
                <a:cs typeface="Public Sans" pitchFamily="34" charset="-120"/>
              </a:rPr>
              <a:t>LIVE DEMO</a:t>
            </a:r>
            <a:endParaRPr lang="en-US" sz="1200" dirty="0">
              <a:latin typeface="Public Sans" charset="0"/>
              <a:ea typeface="Public Sans" charset="0"/>
              <a:cs typeface="Public Sans" charset="0"/>
            </a:endParaRPr>
          </a:p>
        </p:txBody>
      </p:sp>
      <p:sp>
        <p:nvSpPr>
          <p:cNvPr id="3" name="Text 1"/>
          <p:cNvSpPr/>
          <p:nvPr>
            <p:ph type="title"/>
          </p:nvPr>
        </p:nvSpPr>
        <p:spPr>
          <a:xfrm>
            <a:off x="812782" y="2774931"/>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13D"/>
                </a:solidFill>
                <a:latin typeface="Oswald" pitchFamily="34" charset="0"/>
                <a:ea typeface="Oswald" pitchFamily="34" charset="-122"/>
                <a:cs typeface="Oswald" pitchFamily="34" charset="-120"/>
              </a:rPr>
              <a:t>Let’s run a net together</a:t>
            </a:r>
            <a:endParaRPr lang="en-US" sz="6000" dirty="0">
              <a:latin typeface="Oswald" charset="0"/>
              <a:ea typeface="Oswald" charset="0"/>
              <a:cs typeface="Oswald" charset="0"/>
            </a:endParaRPr>
          </a:p>
        </p:txBody>
      </p:sp>
      <p:sp>
        <p:nvSpPr>
          <p:cNvPr id="4" name="Text 2"/>
          <p:cNvSpPr/>
          <p:nvPr/>
        </p:nvSpPr>
        <p:spPr>
          <a:xfrm>
            <a:off x="812782" y="3828994"/>
            <a:ext cx="5232400"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1.</a:t>
            </a:r>
            <a:r>
              <a:rPr lang="en-US" sz="1600" dirty="0">
                <a:solidFill>
                  <a:srgbClr val="14213D"/>
                </a:solidFill>
                <a:latin typeface="Public Sans" pitchFamily="34" charset="0"/>
                <a:ea typeface="Public Sans" pitchFamily="34" charset="-122"/>
                <a:cs typeface="Public Sans" pitchFamily="34" charset="-120"/>
              </a:rPr>
              <a:t> Start the net from the lobby</a:t>
            </a:r>
            <a:endParaRPr lang="en-US" sz="1600" dirty="0">
              <a:latin typeface="Public Sans" charset="0"/>
              <a:ea typeface="Public Sans" charset="0"/>
              <a:cs typeface="Public Sans" charset="0"/>
            </a:endParaRPr>
          </a:p>
        </p:txBody>
      </p:sp>
      <p:sp>
        <p:nvSpPr>
          <p:cNvPr id="5" name="Text 3"/>
          <p:cNvSpPr/>
          <p:nvPr/>
        </p:nvSpPr>
        <p:spPr>
          <a:xfrm>
            <a:off x="6299173" y="3828994"/>
            <a:ext cx="5232446"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2.</a:t>
            </a:r>
            <a:r>
              <a:rPr lang="en-US" sz="1600" dirty="0">
                <a:solidFill>
                  <a:srgbClr val="14213D"/>
                </a:solidFill>
                <a:latin typeface="Public Sans" pitchFamily="34" charset="0"/>
                <a:ea typeface="Public Sans" pitchFamily="34" charset="-122"/>
                <a:cs typeface="Public Sans" pitchFamily="34" charset="-120"/>
              </a:rPr>
              <a:t> Log a few stations by voice</a:t>
            </a:r>
            <a:endParaRPr lang="en-US" sz="1600" dirty="0">
              <a:latin typeface="Public Sans" charset="0"/>
              <a:ea typeface="Public Sans" charset="0"/>
              <a:cs typeface="Public Sans" charset="0"/>
            </a:endParaRPr>
          </a:p>
        </p:txBody>
      </p:sp>
      <p:sp>
        <p:nvSpPr>
          <p:cNvPr id="6" name="Text 4"/>
          <p:cNvSpPr/>
          <p:nvPr/>
        </p:nvSpPr>
        <p:spPr>
          <a:xfrm>
            <a:off x="812782" y="4265867"/>
            <a:ext cx="5232400"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3.</a:t>
            </a:r>
            <a:r>
              <a:rPr lang="en-US" sz="1600" dirty="0">
                <a:solidFill>
                  <a:srgbClr val="14213D"/>
                </a:solidFill>
                <a:latin typeface="Public Sans" pitchFamily="34" charset="0"/>
                <a:ea typeface="Public Sans" pitchFamily="34" charset="-122"/>
                <a:cs typeface="Public Sans" pitchFamily="34" charset="-120"/>
              </a:rPr>
              <a:t> Hand the Logger role to a volunteer</a:t>
            </a:r>
            <a:endParaRPr lang="en-US" sz="1600" dirty="0">
              <a:latin typeface="Public Sans" charset="0"/>
              <a:ea typeface="Public Sans" charset="0"/>
              <a:cs typeface="Public Sans" charset="0"/>
            </a:endParaRPr>
          </a:p>
        </p:txBody>
      </p:sp>
      <p:sp>
        <p:nvSpPr>
          <p:cNvPr id="7" name="Text 5"/>
          <p:cNvSpPr/>
          <p:nvPr/>
        </p:nvSpPr>
        <p:spPr>
          <a:xfrm>
            <a:off x="6299173" y="4265867"/>
            <a:ext cx="5232446"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4.</a:t>
            </a:r>
            <a:r>
              <a:rPr lang="en-US" sz="1600" dirty="0">
                <a:solidFill>
                  <a:srgbClr val="14213D"/>
                </a:solidFill>
                <a:latin typeface="Public Sans" pitchFamily="34" charset="0"/>
                <a:ea typeface="Public Sans" pitchFamily="34" charset="-122"/>
                <a:cs typeface="Public Sans" pitchFamily="34" charset="-120"/>
              </a:rPr>
              <a:t> Close it, and open the report</a:t>
            </a:r>
            <a:endParaRPr lang="en-US" sz="1600" dirty="0">
              <a:latin typeface="Public Sans" charset="0"/>
              <a:ea typeface="Public Sans" charset="0"/>
              <a:cs typeface="Public Sans"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391" cy="6858000"/>
          </a:xfrm>
          <a:prstGeom prst="rect">
            <a:avLst/>
          </a:prstGeom>
          <a:solidFill>
            <a:srgbClr val="1E88E5"/>
          </a:solidFill>
          <a:ln/>
        </p:spPr>
      </p:sp>
      <p:sp>
        <p:nvSpPr>
          <p:cNvPr id="3" name="Text 1"/>
          <p:cNvSpPr/>
          <p:nvPr/>
        </p:nvSpPr>
        <p:spPr>
          <a:xfrm>
            <a:off x="812782" y="258829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B8F5"/>
                </a:solidFill>
                <a:latin typeface="Public Sans" pitchFamily="34" charset="0"/>
                <a:ea typeface="Public Sans" pitchFamily="34" charset="-122"/>
                <a:cs typeface="Public Sans" pitchFamily="34" charset="-120"/>
              </a:rPr>
              <a:t>PART 3</a:t>
            </a:r>
            <a:endParaRPr lang="en-US" sz="1200" dirty="0">
              <a:latin typeface="Public Sans" charset="0"/>
              <a:ea typeface="Public Sans" charset="0"/>
              <a:cs typeface="Public Sans" charset="0"/>
            </a:endParaRPr>
          </a:p>
        </p:txBody>
      </p:sp>
      <p:sp>
        <p:nvSpPr>
          <p:cNvPr id="4" name="Text 2"/>
          <p:cNvSpPr/>
          <p:nvPr>
            <p:ph type="title"/>
          </p:nvPr>
        </p:nvSpPr>
        <p:spPr>
          <a:xfrm>
            <a:off x="812782" y="2954003"/>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Oswald" pitchFamily="34" charset="0"/>
                <a:ea typeface="Oswald" pitchFamily="34" charset="-122"/>
                <a:cs typeface="Oswald" pitchFamily="34" charset="-120"/>
              </a:rPr>
              <a:t>ARES and SKYWARN nets</a:t>
            </a:r>
            <a:endParaRPr lang="en-US" sz="6000" dirty="0">
              <a:latin typeface="Oswald" charset="0"/>
              <a:ea typeface="Oswald" charset="0"/>
              <a:cs typeface="Oswald" charset="0"/>
            </a:endParaRPr>
          </a:p>
        </p:txBody>
      </p:sp>
      <p:sp>
        <p:nvSpPr>
          <p:cNvPr id="5" name="Text 3"/>
          <p:cNvSpPr/>
          <p:nvPr/>
        </p:nvSpPr>
        <p:spPr>
          <a:xfrm>
            <a:off x="812782" y="3906465"/>
            <a:ext cx="10883429" cy="38858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5E3"/>
                </a:solidFill>
                <a:latin typeface="Public Sans" pitchFamily="34" charset="0"/>
                <a:ea typeface="Public Sans" pitchFamily="34" charset="-122"/>
                <a:cs typeface="Public Sans" pitchFamily="34" charset="-120"/>
              </a:rPr>
              <a:t>Several frequencies and modes, several net controls, one log</a:t>
            </a:r>
            <a:endParaRPr lang="en-US" sz="2200" dirty="0">
              <a:latin typeface="Public Sans" charset="0"/>
              <a:ea typeface="Public Sans" charset="0"/>
              <a:cs typeface="Public San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3 · ARES AND SKYWARN</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Many frequencies, one net</a:t>
            </a:r>
            <a:endParaRPr lang="en-US" sz="3600" dirty="0">
              <a:latin typeface="Oswald" charset="0"/>
              <a:ea typeface="Oswald" charset="0"/>
              <a:cs typeface="Oswald" charset="0"/>
            </a:endParaRPr>
          </a:p>
        </p:txBody>
      </p:sp>
      <p:sp>
        <p:nvSpPr>
          <p:cNvPr id="4" name="Shape 2"/>
          <p:cNvSpPr/>
          <p:nvPr/>
        </p:nvSpPr>
        <p:spPr>
          <a:xfrm>
            <a:off x="815957" y="1913136"/>
            <a:ext cx="3397304" cy="1135342"/>
          </a:xfrm>
          <a:prstGeom prst="roundRect">
            <a:avLst>
              <a:gd name="adj" fmla="val 8669"/>
            </a:avLst>
          </a:prstGeom>
          <a:solidFill>
            <a:srgbClr val="FCFCFA"/>
          </a:solidFill>
          <a:ln w="6350">
            <a:solidFill>
              <a:srgbClr val="DFE3E8"/>
            </a:solidFill>
            <a:prstDash val="solid"/>
          </a:ln>
        </p:spPr>
      </p:sp>
      <p:sp>
        <p:nvSpPr>
          <p:cNvPr id="5" name="Text 3"/>
          <p:cNvSpPr/>
          <p:nvPr/>
        </p:nvSpPr>
        <p:spPr>
          <a:xfrm>
            <a:off x="1021728" y="2093516"/>
            <a:ext cx="307533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Claim your frequency</a:t>
            </a:r>
            <a:endParaRPr lang="en-US" sz="1600" dirty="0">
              <a:latin typeface="Public Sans" charset="0"/>
              <a:ea typeface="Public Sans" charset="0"/>
              <a:cs typeface="Public Sans" charset="0"/>
            </a:endParaRPr>
          </a:p>
        </p:txBody>
      </p:sp>
      <p:sp>
        <p:nvSpPr>
          <p:cNvPr id="6" name="Text 4"/>
          <p:cNvSpPr/>
          <p:nvPr/>
        </p:nvSpPr>
        <p:spPr>
          <a:xfrm>
            <a:off x="1021728" y="2388146"/>
            <a:ext cx="3075336"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Each NCS takes a repeater, simplex or talkgroup</a:t>
            </a:r>
            <a:endParaRPr lang="en-US" sz="1400" dirty="0">
              <a:latin typeface="Public Sans" charset="0"/>
              <a:ea typeface="Public Sans" charset="0"/>
              <a:cs typeface="Public Sans" charset="0"/>
            </a:endParaRPr>
          </a:p>
        </p:txBody>
      </p:sp>
      <p:sp>
        <p:nvSpPr>
          <p:cNvPr id="7" name="Shape 5"/>
          <p:cNvSpPr/>
          <p:nvPr/>
        </p:nvSpPr>
        <p:spPr>
          <a:xfrm>
            <a:off x="815957" y="3207209"/>
            <a:ext cx="3397304" cy="1135342"/>
          </a:xfrm>
          <a:prstGeom prst="roundRect">
            <a:avLst>
              <a:gd name="adj" fmla="val 8669"/>
            </a:avLst>
          </a:prstGeom>
          <a:solidFill>
            <a:srgbClr val="FCFCFA"/>
          </a:solidFill>
          <a:ln w="6350">
            <a:solidFill>
              <a:srgbClr val="DFE3E8"/>
            </a:solidFill>
            <a:prstDash val="solid"/>
          </a:ln>
        </p:spPr>
      </p:sp>
      <p:sp>
        <p:nvSpPr>
          <p:cNvPr id="8" name="Text 6"/>
          <p:cNvSpPr/>
          <p:nvPr/>
        </p:nvSpPr>
        <p:spPr>
          <a:xfrm>
            <a:off x="1021728" y="3387589"/>
            <a:ext cx="307533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Every desk, one list</a:t>
            </a:r>
            <a:endParaRPr lang="en-US" sz="1600" dirty="0">
              <a:latin typeface="Public Sans" charset="0"/>
              <a:ea typeface="Public Sans" charset="0"/>
              <a:cs typeface="Public Sans" charset="0"/>
            </a:endParaRPr>
          </a:p>
        </p:txBody>
      </p:sp>
      <p:sp>
        <p:nvSpPr>
          <p:cNvPr id="9" name="Text 7"/>
          <p:cNvSpPr/>
          <p:nvPr/>
        </p:nvSpPr>
        <p:spPr>
          <a:xfrm>
            <a:off x="1021728" y="3682231"/>
            <a:ext cx="3075336"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Several NCS log into the same net at once</a:t>
            </a:r>
            <a:endParaRPr lang="en-US" sz="1400" dirty="0">
              <a:latin typeface="Public Sans" charset="0"/>
              <a:ea typeface="Public Sans" charset="0"/>
              <a:cs typeface="Public Sans" charset="0"/>
            </a:endParaRPr>
          </a:p>
        </p:txBody>
      </p:sp>
      <p:sp>
        <p:nvSpPr>
          <p:cNvPr id="10" name="Shape 8"/>
          <p:cNvSpPr/>
          <p:nvPr/>
        </p:nvSpPr>
        <p:spPr>
          <a:xfrm>
            <a:off x="815957" y="4501294"/>
            <a:ext cx="3397304" cy="1135342"/>
          </a:xfrm>
          <a:prstGeom prst="roundRect">
            <a:avLst>
              <a:gd name="adj" fmla="val 8669"/>
            </a:avLst>
          </a:prstGeom>
          <a:solidFill>
            <a:srgbClr val="FCFCFA"/>
          </a:solidFill>
          <a:ln w="6350">
            <a:solidFill>
              <a:srgbClr val="DFE3E8"/>
            </a:solidFill>
            <a:prstDash val="solid"/>
          </a:ln>
        </p:spPr>
      </p:sp>
      <p:sp>
        <p:nvSpPr>
          <p:cNvPr id="11" name="Text 9"/>
          <p:cNvSpPr/>
          <p:nvPr/>
        </p:nvSpPr>
        <p:spPr>
          <a:xfrm>
            <a:off x="1021728" y="4681674"/>
            <a:ext cx="3075336"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Room to spread out</a:t>
            </a:r>
            <a:endParaRPr lang="en-US" sz="1600" dirty="0">
              <a:latin typeface="Public Sans" charset="0"/>
              <a:ea typeface="Public Sans" charset="0"/>
              <a:cs typeface="Public Sans" charset="0"/>
            </a:endParaRPr>
          </a:p>
        </p:txBody>
      </p:sp>
      <p:sp>
        <p:nvSpPr>
          <p:cNvPr id="12" name="Text 10"/>
          <p:cNvSpPr/>
          <p:nvPr/>
        </p:nvSpPr>
        <p:spPr>
          <a:xfrm>
            <a:off x="1021728" y="4976316"/>
            <a:ext cx="3075336"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Pop panels out onto a second monitor</a:t>
            </a:r>
            <a:endParaRPr lang="en-US" sz="1400" dirty="0">
              <a:latin typeface="Public Sans" charset="0"/>
              <a:ea typeface="Public Sans" charset="0"/>
              <a:cs typeface="Public Sans" charset="0"/>
            </a:endParaRPr>
          </a:p>
        </p:txBody>
      </p:sp>
      <p:sp>
        <p:nvSpPr>
          <p:cNvPr id="13" name="Shape 11"/>
          <p:cNvSpPr/>
          <p:nvPr/>
        </p:nvSpPr>
        <p:spPr>
          <a:xfrm>
            <a:off x="4521218" y="2133426"/>
            <a:ext cx="6858000" cy="3282923"/>
          </a:xfrm>
          <a:prstGeom prst="roundRect">
            <a:avLst>
              <a:gd name="adj" fmla="val 3869"/>
            </a:avLst>
          </a:prstGeom>
          <a:solidFill>
            <a:srgbClr val="DFE5EE"/>
          </a:solidFill>
          <a:ln/>
        </p:spPr>
      </p:sp>
      <p:pic>
        <p:nvPicPr>
          <p:cNvPr id="14" name="Image 0" descr="A wide-screen net control desk with announcements and notes on the left, the check-in list in the middle, and chat on the right; the header shows a DMR talkgroup and two FM frequencies">    </p:cNvPr>
          <p:cNvPicPr>
            <a:picLocks noChangeAspect="1"/>
          </p:cNvPicPr>
          <p:nvPr/>
        </p:nvPicPr>
        <p:blipFill>
          <a:blip r:embed="rId1"/>
          <a:srcRect l="0" r="0" t="-35" b="-35"/>
          <a:stretch/>
        </p:blipFill>
        <p:spPr>
          <a:xfrm>
            <a:off x="4648218" y="2260426"/>
            <a:ext cx="6604000" cy="302892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3 · ARES AND SKYWARN</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Who can hear whom</a:t>
            </a:r>
            <a:endParaRPr lang="en-US" sz="3600" dirty="0">
              <a:latin typeface="Oswald" charset="0"/>
              <a:ea typeface="Oswald" charset="0"/>
              <a:cs typeface="Oswald" charset="0"/>
            </a:endParaRPr>
          </a:p>
        </p:txBody>
      </p:sp>
      <p:sp>
        <p:nvSpPr>
          <p:cNvPr id="4" name="Shape 2"/>
          <p:cNvSpPr/>
          <p:nvPr/>
        </p:nvSpPr>
        <p:spPr>
          <a:xfrm>
            <a:off x="815957" y="2475074"/>
            <a:ext cx="4870522" cy="895368"/>
          </a:xfrm>
          <a:prstGeom prst="roundRect">
            <a:avLst>
              <a:gd name="adj" fmla="val 10993"/>
            </a:avLst>
          </a:prstGeom>
          <a:solidFill>
            <a:srgbClr val="FCFCFA"/>
          </a:solidFill>
          <a:ln w="6350">
            <a:solidFill>
              <a:srgbClr val="DFE3E8"/>
            </a:solidFill>
            <a:prstDash val="solid"/>
          </a:ln>
        </p:spPr>
      </p:sp>
      <p:sp>
        <p:nvSpPr>
          <p:cNvPr id="5" name="Text 3"/>
          <p:cNvSpPr/>
          <p:nvPr/>
        </p:nvSpPr>
        <p:spPr>
          <a:xfrm>
            <a:off x="1021728" y="2655453"/>
            <a:ext cx="459275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Stations press I hear</a:t>
            </a:r>
            <a:endParaRPr lang="en-US" sz="1600" dirty="0">
              <a:latin typeface="Public Sans" charset="0"/>
              <a:ea typeface="Public Sans" charset="0"/>
              <a:cs typeface="Public Sans" charset="0"/>
            </a:endParaRPr>
          </a:p>
        </p:txBody>
      </p:sp>
      <p:sp>
        <p:nvSpPr>
          <p:cNvPr id="6" name="Text 4"/>
          <p:cNvSpPr/>
          <p:nvPr/>
        </p:nvSpPr>
        <p:spPr>
          <a:xfrm>
            <a:off x="1021728" y="2950083"/>
            <a:ext cx="459275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And pick the stations they can copy</a:t>
            </a:r>
            <a:endParaRPr lang="en-US" sz="1400" dirty="0">
              <a:latin typeface="Public Sans" charset="0"/>
              <a:ea typeface="Public Sans" charset="0"/>
              <a:cs typeface="Public Sans" charset="0"/>
            </a:endParaRPr>
          </a:p>
        </p:txBody>
      </p:sp>
      <p:sp>
        <p:nvSpPr>
          <p:cNvPr id="7" name="Shape 5"/>
          <p:cNvSpPr/>
          <p:nvPr/>
        </p:nvSpPr>
        <p:spPr>
          <a:xfrm>
            <a:off x="815957" y="3529174"/>
            <a:ext cx="4870522" cy="895368"/>
          </a:xfrm>
          <a:prstGeom prst="roundRect">
            <a:avLst>
              <a:gd name="adj" fmla="val 10993"/>
            </a:avLst>
          </a:prstGeom>
          <a:solidFill>
            <a:srgbClr val="FCFCFA"/>
          </a:solidFill>
          <a:ln w="6350">
            <a:solidFill>
              <a:srgbClr val="DFE3E8"/>
            </a:solidFill>
            <a:prstDash val="solid"/>
          </a:ln>
        </p:spPr>
      </p:sp>
      <p:sp>
        <p:nvSpPr>
          <p:cNvPr id="8" name="Text 6"/>
          <p:cNvSpPr/>
          <p:nvPr/>
        </p:nvSpPr>
        <p:spPr>
          <a:xfrm>
            <a:off x="1021728" y="3709553"/>
            <a:ext cx="459275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One-way or two-way</a:t>
            </a:r>
            <a:endParaRPr lang="en-US" sz="1600" dirty="0">
              <a:latin typeface="Public Sans" charset="0"/>
              <a:ea typeface="Public Sans" charset="0"/>
              <a:cs typeface="Public Sans" charset="0"/>
            </a:endParaRPr>
          </a:p>
        </p:txBody>
      </p:sp>
      <p:sp>
        <p:nvSpPr>
          <p:cNvPr id="9" name="Text 7"/>
          <p:cNvSpPr/>
          <p:nvPr/>
        </p:nvSpPr>
        <p:spPr>
          <a:xfrm>
            <a:off x="1021728" y="4004196"/>
            <a:ext cx="459275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Station Coverage sorts it out as reports arrive</a:t>
            </a:r>
            <a:endParaRPr lang="en-US" sz="1400" dirty="0">
              <a:latin typeface="Public Sans" charset="0"/>
              <a:ea typeface="Public Sans" charset="0"/>
              <a:cs typeface="Public Sans" charset="0"/>
            </a:endParaRPr>
          </a:p>
        </p:txBody>
      </p:sp>
      <p:sp>
        <p:nvSpPr>
          <p:cNvPr id="10" name="Shape 8"/>
          <p:cNvSpPr/>
          <p:nvPr/>
        </p:nvSpPr>
        <p:spPr>
          <a:xfrm>
            <a:off x="815957" y="4583286"/>
            <a:ext cx="4870522" cy="895368"/>
          </a:xfrm>
          <a:prstGeom prst="roundRect">
            <a:avLst>
              <a:gd name="adj" fmla="val 10993"/>
            </a:avLst>
          </a:prstGeom>
          <a:solidFill>
            <a:srgbClr val="FCFCFA"/>
          </a:solidFill>
          <a:ln w="6350">
            <a:solidFill>
              <a:srgbClr val="DFE3E8"/>
            </a:solidFill>
            <a:prstDash val="solid"/>
          </a:ln>
        </p:spPr>
      </p:sp>
      <p:sp>
        <p:nvSpPr>
          <p:cNvPr id="11" name="Text 9"/>
          <p:cNvSpPr/>
          <p:nvPr/>
        </p:nvSpPr>
        <p:spPr>
          <a:xfrm>
            <a:off x="1021728" y="4763666"/>
            <a:ext cx="459275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Sites, not just stations</a:t>
            </a:r>
            <a:endParaRPr lang="en-US" sz="1600" dirty="0">
              <a:latin typeface="Public Sans" charset="0"/>
              <a:ea typeface="Public Sans" charset="0"/>
              <a:cs typeface="Public Sans" charset="0"/>
            </a:endParaRPr>
          </a:p>
        </p:txBody>
      </p:sp>
      <p:sp>
        <p:nvSpPr>
          <p:cNvPr id="12" name="Text 10"/>
          <p:cNvSpPr/>
          <p:nvPr/>
        </p:nvSpPr>
        <p:spPr>
          <a:xfrm>
            <a:off x="1021728" y="5058308"/>
            <a:ext cx="4592750"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Shelters and the EOC, and who’s staffing each</a:t>
            </a:r>
            <a:endParaRPr lang="en-US" sz="1400" dirty="0">
              <a:latin typeface="Public Sans" charset="0"/>
              <a:ea typeface="Public Sans" charset="0"/>
              <a:cs typeface="Public Sans" charset="0"/>
            </a:endParaRPr>
          </a:p>
        </p:txBody>
      </p:sp>
      <p:sp>
        <p:nvSpPr>
          <p:cNvPr id="13" name="Shape 11"/>
          <p:cNvSpPr/>
          <p:nvPr/>
        </p:nvSpPr>
        <p:spPr>
          <a:xfrm>
            <a:off x="6045218" y="1909961"/>
            <a:ext cx="5334000" cy="4133814"/>
          </a:xfrm>
          <a:prstGeom prst="roundRect">
            <a:avLst>
              <a:gd name="adj" fmla="val 3072"/>
            </a:avLst>
          </a:prstGeom>
          <a:solidFill>
            <a:srgbClr val="DFE5EE"/>
          </a:solidFill>
          <a:ln/>
        </p:spPr>
      </p:sp>
      <p:pic>
        <p:nvPicPr>
          <p:cNvPr id="14" name="Image 0" descr="A simplex drill net with the Station Coverage panel listing which stations heard which, marked one-way or two-way">    </p:cNvPr>
          <p:cNvPicPr>
            <a:picLocks noChangeAspect="1"/>
          </p:cNvPicPr>
          <p:nvPr/>
        </p:nvPicPr>
        <p:blipFill>
          <a:blip r:embed="rId1"/>
          <a:srcRect l="-10" r="-10" t="0" b="0"/>
          <a:stretch/>
        </p:blipFill>
        <p:spPr>
          <a:xfrm>
            <a:off x="6172218" y="2036961"/>
            <a:ext cx="5080000" cy="387981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PART 3 · ARES AND SKYWARN</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Built for exercises and real events</a:t>
            </a:r>
            <a:endParaRPr lang="en-US" sz="3600" dirty="0">
              <a:latin typeface="Oswald" charset="0"/>
              <a:ea typeface="Oswald" charset="0"/>
              <a:cs typeface="Oswald" charset="0"/>
            </a:endParaRPr>
          </a:p>
        </p:txBody>
      </p:sp>
      <p:sp>
        <p:nvSpPr>
          <p:cNvPr id="4" name="Shape 2"/>
          <p:cNvSpPr/>
          <p:nvPr/>
        </p:nvSpPr>
        <p:spPr>
          <a:xfrm>
            <a:off x="815957" y="1963911"/>
            <a:ext cx="3380347" cy="1186124"/>
          </a:xfrm>
          <a:prstGeom prst="roundRect">
            <a:avLst>
              <a:gd name="adj" fmla="val 8298"/>
            </a:avLst>
          </a:prstGeom>
          <a:solidFill>
            <a:srgbClr val="FCFCFA"/>
          </a:solidFill>
          <a:ln w="6350">
            <a:solidFill>
              <a:srgbClr val="DFE3E8"/>
            </a:solidFill>
            <a:prstDash val="solid"/>
          </a:ln>
        </p:spPr>
      </p:sp>
      <p:sp>
        <p:nvSpPr>
          <p:cNvPr id="5" name="Text 3"/>
          <p:cNvSpPr/>
          <p:nvPr/>
        </p:nvSpPr>
        <p:spPr>
          <a:xfrm>
            <a:off x="1047119" y="2169678"/>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Traffic</a:t>
            </a:r>
            <a:endParaRPr lang="en-US" sz="1600" dirty="0">
              <a:latin typeface="Public Sans" charset="0"/>
              <a:ea typeface="Public Sans" charset="0"/>
              <a:cs typeface="Public Sans" charset="0"/>
            </a:endParaRPr>
          </a:p>
        </p:txBody>
      </p:sp>
      <p:sp>
        <p:nvSpPr>
          <p:cNvPr id="6" name="Text 4"/>
          <p:cNvSpPr/>
          <p:nvPr/>
        </p:nvSpPr>
        <p:spPr>
          <a:xfrm>
            <a:off x="1047119" y="2464321"/>
            <a:ext cx="3005564"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Write, file and track ICS-213 messages</a:t>
            </a:r>
            <a:endParaRPr lang="en-US" sz="1400" dirty="0">
              <a:latin typeface="Public Sans" charset="0"/>
              <a:ea typeface="Public Sans" charset="0"/>
              <a:cs typeface="Public Sans" charset="0"/>
            </a:endParaRPr>
          </a:p>
        </p:txBody>
      </p:sp>
      <p:sp>
        <p:nvSpPr>
          <p:cNvPr id="7" name="Shape 5"/>
          <p:cNvSpPr/>
          <p:nvPr/>
        </p:nvSpPr>
        <p:spPr>
          <a:xfrm>
            <a:off x="4405826" y="1963911"/>
            <a:ext cx="3380347" cy="1186124"/>
          </a:xfrm>
          <a:prstGeom prst="roundRect">
            <a:avLst>
              <a:gd name="adj" fmla="val 8298"/>
            </a:avLst>
          </a:prstGeom>
          <a:solidFill>
            <a:srgbClr val="FCFCFA"/>
          </a:solidFill>
          <a:ln w="6350">
            <a:solidFill>
              <a:srgbClr val="DFE3E8"/>
            </a:solidFill>
            <a:prstDash val="solid"/>
          </a:ln>
        </p:spPr>
      </p:sp>
      <p:sp>
        <p:nvSpPr>
          <p:cNvPr id="8" name="Text 6"/>
          <p:cNvSpPr/>
          <p:nvPr/>
        </p:nvSpPr>
        <p:spPr>
          <a:xfrm>
            <a:off x="4636988" y="2169678"/>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Off-net log</a:t>
            </a:r>
            <a:endParaRPr lang="en-US" sz="1600" dirty="0">
              <a:latin typeface="Public Sans" charset="0"/>
              <a:ea typeface="Public Sans" charset="0"/>
              <a:cs typeface="Public Sans" charset="0"/>
            </a:endParaRPr>
          </a:p>
        </p:txBody>
      </p:sp>
      <p:sp>
        <p:nvSpPr>
          <p:cNvPr id="9" name="Text 7"/>
          <p:cNvSpPr/>
          <p:nvPr/>
        </p:nvSpPr>
        <p:spPr>
          <a:xfrm>
            <a:off x="4636988" y="2464321"/>
            <a:ext cx="3005564"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Contacts away from the net land on the ICS-309</a:t>
            </a:r>
            <a:endParaRPr lang="en-US" sz="1400" dirty="0">
              <a:latin typeface="Public Sans" charset="0"/>
              <a:ea typeface="Public Sans" charset="0"/>
              <a:cs typeface="Public Sans" charset="0"/>
            </a:endParaRPr>
          </a:p>
        </p:txBody>
      </p:sp>
      <p:sp>
        <p:nvSpPr>
          <p:cNvPr id="10" name="Shape 8"/>
          <p:cNvSpPr/>
          <p:nvPr/>
        </p:nvSpPr>
        <p:spPr>
          <a:xfrm>
            <a:off x="7995696" y="1963911"/>
            <a:ext cx="3380347" cy="1186124"/>
          </a:xfrm>
          <a:prstGeom prst="roundRect">
            <a:avLst>
              <a:gd name="adj" fmla="val 8298"/>
            </a:avLst>
          </a:prstGeom>
          <a:solidFill>
            <a:srgbClr val="FCFCFA"/>
          </a:solidFill>
          <a:ln w="6350">
            <a:solidFill>
              <a:srgbClr val="DFE3E8"/>
            </a:solidFill>
            <a:prstDash val="solid"/>
          </a:ln>
        </p:spPr>
      </p:sp>
      <p:sp>
        <p:nvSpPr>
          <p:cNvPr id="11" name="Text 9"/>
          <p:cNvSpPr/>
          <p:nvPr/>
        </p:nvSpPr>
        <p:spPr>
          <a:xfrm>
            <a:off x="8226858" y="2169678"/>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Your own fields</a:t>
            </a:r>
            <a:endParaRPr lang="en-US" sz="1600" dirty="0">
              <a:latin typeface="Public Sans" charset="0"/>
              <a:ea typeface="Public Sans" charset="0"/>
              <a:cs typeface="Public Sans" charset="0"/>
            </a:endParaRPr>
          </a:p>
        </p:txBody>
      </p:sp>
      <p:sp>
        <p:nvSpPr>
          <p:cNvPr id="12" name="Text 10"/>
          <p:cNvSpPr/>
          <p:nvPr/>
        </p:nvSpPr>
        <p:spPr>
          <a:xfrm>
            <a:off x="8226858" y="2464321"/>
            <a:ext cx="3005564"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Spotter number, weather, or what your team needs</a:t>
            </a:r>
            <a:endParaRPr lang="en-US" sz="1400" dirty="0">
              <a:latin typeface="Public Sans" charset="0"/>
              <a:ea typeface="Public Sans" charset="0"/>
              <a:cs typeface="Public Sans" charset="0"/>
            </a:endParaRPr>
          </a:p>
        </p:txBody>
      </p:sp>
      <p:sp>
        <p:nvSpPr>
          <p:cNvPr id="13" name="Shape 11"/>
          <p:cNvSpPr/>
          <p:nvPr/>
        </p:nvSpPr>
        <p:spPr>
          <a:xfrm>
            <a:off x="815957" y="3359559"/>
            <a:ext cx="3380347" cy="1186124"/>
          </a:xfrm>
          <a:prstGeom prst="roundRect">
            <a:avLst>
              <a:gd name="adj" fmla="val 8298"/>
            </a:avLst>
          </a:prstGeom>
          <a:solidFill>
            <a:srgbClr val="FCFCFA"/>
          </a:solidFill>
          <a:ln w="6350">
            <a:solidFill>
              <a:srgbClr val="DFE3E8"/>
            </a:solidFill>
            <a:prstDash val="solid"/>
          </a:ln>
        </p:spPr>
      </p:sp>
      <p:sp>
        <p:nvSpPr>
          <p:cNvPr id="14" name="Text 12"/>
          <p:cNvSpPr/>
          <p:nvPr/>
        </p:nvSpPr>
        <p:spPr>
          <a:xfrm>
            <a:off x="1047119" y="3565327"/>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Verified stations</a:t>
            </a:r>
            <a:endParaRPr lang="en-US" sz="1600" dirty="0">
              <a:latin typeface="Public Sans" charset="0"/>
              <a:ea typeface="Public Sans" charset="0"/>
              <a:cs typeface="Public Sans" charset="0"/>
            </a:endParaRPr>
          </a:p>
        </p:txBody>
      </p:sp>
      <p:sp>
        <p:nvSpPr>
          <p:cNvPr id="15" name="Text 13"/>
          <p:cNvSpPr/>
          <p:nvPr/>
        </p:nvSpPr>
        <p:spPr>
          <a:xfrm>
            <a:off x="1047119" y="3859969"/>
            <a:ext cx="3005564"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Check an operator’s code from their authenticator app</a:t>
            </a:r>
            <a:endParaRPr lang="en-US" sz="1400" dirty="0">
              <a:latin typeface="Public Sans" charset="0"/>
              <a:ea typeface="Public Sans" charset="0"/>
              <a:cs typeface="Public Sans" charset="0"/>
            </a:endParaRPr>
          </a:p>
        </p:txBody>
      </p:sp>
      <p:sp>
        <p:nvSpPr>
          <p:cNvPr id="16" name="Shape 14"/>
          <p:cNvSpPr/>
          <p:nvPr/>
        </p:nvSpPr>
        <p:spPr>
          <a:xfrm>
            <a:off x="4405826" y="3359559"/>
            <a:ext cx="3380347" cy="1186124"/>
          </a:xfrm>
          <a:prstGeom prst="roundRect">
            <a:avLst>
              <a:gd name="adj" fmla="val 8298"/>
            </a:avLst>
          </a:prstGeom>
          <a:solidFill>
            <a:srgbClr val="FCFCFA"/>
          </a:solidFill>
          <a:ln w="6350">
            <a:solidFill>
              <a:srgbClr val="DFE3E8"/>
            </a:solidFill>
            <a:prstDash val="solid"/>
          </a:ln>
        </p:spPr>
      </p:sp>
      <p:sp>
        <p:nvSpPr>
          <p:cNvPr id="17" name="Text 15"/>
          <p:cNvSpPr/>
          <p:nvPr/>
        </p:nvSpPr>
        <p:spPr>
          <a:xfrm>
            <a:off x="4636988" y="3565327"/>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Drill plans</a:t>
            </a:r>
            <a:endParaRPr lang="en-US" sz="1600" dirty="0">
              <a:latin typeface="Public Sans" charset="0"/>
              <a:ea typeface="Public Sans" charset="0"/>
              <a:cs typeface="Public Sans" charset="0"/>
            </a:endParaRPr>
          </a:p>
        </p:txBody>
      </p:sp>
      <p:sp>
        <p:nvSpPr>
          <p:cNvPr id="18" name="Text 16"/>
          <p:cNvSpPr/>
          <p:nvPr/>
        </p:nvSpPr>
        <p:spPr>
          <a:xfrm>
            <a:off x="4636988" y="3859969"/>
            <a:ext cx="3005564"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Plan the exercise and prepare its messages ahead</a:t>
            </a:r>
            <a:endParaRPr lang="en-US" sz="1400" dirty="0">
              <a:latin typeface="Public Sans" charset="0"/>
              <a:ea typeface="Public Sans" charset="0"/>
              <a:cs typeface="Public Sans" charset="0"/>
            </a:endParaRPr>
          </a:p>
        </p:txBody>
      </p:sp>
      <p:sp>
        <p:nvSpPr>
          <p:cNvPr id="19" name="Shape 17"/>
          <p:cNvSpPr/>
          <p:nvPr/>
        </p:nvSpPr>
        <p:spPr>
          <a:xfrm>
            <a:off x="7995696" y="3359559"/>
            <a:ext cx="3380347" cy="1186124"/>
          </a:xfrm>
          <a:prstGeom prst="roundRect">
            <a:avLst>
              <a:gd name="adj" fmla="val 8298"/>
            </a:avLst>
          </a:prstGeom>
          <a:solidFill>
            <a:srgbClr val="FCFCFA"/>
          </a:solidFill>
          <a:ln w="6350">
            <a:solidFill>
              <a:srgbClr val="DFE3E8"/>
            </a:solidFill>
            <a:prstDash val="solid"/>
          </a:ln>
        </p:spPr>
      </p:sp>
      <p:sp>
        <p:nvSpPr>
          <p:cNvPr id="20" name="Text 18"/>
          <p:cNvSpPr/>
          <p:nvPr/>
        </p:nvSpPr>
        <p:spPr>
          <a:xfrm>
            <a:off x="8226858" y="3565327"/>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Moderation</a:t>
            </a:r>
            <a:endParaRPr lang="en-US" sz="1600" dirty="0">
              <a:latin typeface="Public Sans" charset="0"/>
              <a:ea typeface="Public Sans" charset="0"/>
              <a:cs typeface="Public Sans" charset="0"/>
            </a:endParaRPr>
          </a:p>
        </p:txBody>
      </p:sp>
      <p:sp>
        <p:nvSpPr>
          <p:cNvPr id="21" name="Text 19"/>
          <p:cNvSpPr/>
          <p:nvPr/>
        </p:nvSpPr>
        <p:spPr>
          <a:xfrm>
            <a:off x="8226858" y="3859969"/>
            <a:ext cx="3005564"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Mute chat for everyone, or remove a station</a:t>
            </a:r>
            <a:endParaRPr lang="en-US" sz="1400" dirty="0">
              <a:latin typeface="Public Sans" charset="0"/>
              <a:ea typeface="Public Sans" charset="0"/>
              <a:cs typeface="Public Sans"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782" y="2307592"/>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Public Sans" pitchFamily="34" charset="0"/>
                <a:ea typeface="Public Sans" pitchFamily="34" charset="-122"/>
                <a:cs typeface="Public Sans" pitchFamily="34" charset="-120"/>
              </a:rPr>
              <a:t>LIVE DEMO</a:t>
            </a:r>
            <a:endParaRPr lang="en-US" sz="1200" dirty="0">
              <a:latin typeface="Public Sans" charset="0"/>
              <a:ea typeface="Public Sans" charset="0"/>
              <a:cs typeface="Public Sans" charset="0"/>
            </a:endParaRPr>
          </a:p>
        </p:txBody>
      </p:sp>
      <p:sp>
        <p:nvSpPr>
          <p:cNvPr id="3" name="Text 1"/>
          <p:cNvSpPr/>
          <p:nvPr>
            <p:ph type="title"/>
          </p:nvPr>
        </p:nvSpPr>
        <p:spPr>
          <a:xfrm>
            <a:off x="812782" y="2774913"/>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13D"/>
                </a:solidFill>
                <a:latin typeface="Oswald" pitchFamily="34" charset="0"/>
                <a:ea typeface="Oswald" pitchFamily="34" charset="-122"/>
                <a:cs typeface="Oswald" pitchFamily="34" charset="-120"/>
              </a:rPr>
              <a:t>Two desks, two frequencies</a:t>
            </a:r>
            <a:endParaRPr lang="en-US" sz="6000" dirty="0">
              <a:latin typeface="Oswald" charset="0"/>
              <a:ea typeface="Oswald" charset="0"/>
              <a:cs typeface="Oswald" charset="0"/>
            </a:endParaRPr>
          </a:p>
        </p:txBody>
      </p:sp>
      <p:sp>
        <p:nvSpPr>
          <p:cNvPr id="4" name="Text 2"/>
          <p:cNvSpPr/>
          <p:nvPr/>
        </p:nvSpPr>
        <p:spPr>
          <a:xfrm>
            <a:off x="812782" y="3828988"/>
            <a:ext cx="5232400"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1.</a:t>
            </a:r>
            <a:r>
              <a:rPr lang="en-US" sz="1600" dirty="0">
                <a:solidFill>
                  <a:srgbClr val="14213D"/>
                </a:solidFill>
                <a:latin typeface="Public Sans" pitchFamily="34" charset="0"/>
                <a:ea typeface="Public Sans" pitchFamily="34" charset="-122"/>
                <a:cs typeface="Public Sans" pitchFamily="34" charset="-120"/>
              </a:rPr>
              <a:t> A second NCS checks in</a:t>
            </a:r>
            <a:endParaRPr lang="en-US" sz="1600" dirty="0">
              <a:latin typeface="Public Sans" charset="0"/>
              <a:ea typeface="Public Sans" charset="0"/>
              <a:cs typeface="Public Sans" charset="0"/>
            </a:endParaRPr>
          </a:p>
        </p:txBody>
      </p:sp>
      <p:sp>
        <p:nvSpPr>
          <p:cNvPr id="5" name="Text 3"/>
          <p:cNvSpPr/>
          <p:nvPr/>
        </p:nvSpPr>
        <p:spPr>
          <a:xfrm>
            <a:off x="6299173" y="3828988"/>
            <a:ext cx="5232446"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2.</a:t>
            </a:r>
            <a:r>
              <a:rPr lang="en-US" sz="1600" dirty="0">
                <a:solidFill>
                  <a:srgbClr val="14213D"/>
                </a:solidFill>
                <a:latin typeface="Public Sans" pitchFamily="34" charset="0"/>
                <a:ea typeface="Public Sans" pitchFamily="34" charset="-122"/>
                <a:cs typeface="Public Sans" pitchFamily="34" charset="-120"/>
              </a:rPr>
              <a:t> Each claims a frequency chip</a:t>
            </a:r>
            <a:endParaRPr lang="en-US" sz="1600" dirty="0">
              <a:latin typeface="Public Sans" charset="0"/>
              <a:ea typeface="Public Sans" charset="0"/>
              <a:cs typeface="Public Sans" charset="0"/>
            </a:endParaRPr>
          </a:p>
        </p:txBody>
      </p:sp>
      <p:sp>
        <p:nvSpPr>
          <p:cNvPr id="6" name="Text 4"/>
          <p:cNvSpPr/>
          <p:nvPr/>
        </p:nvSpPr>
        <p:spPr>
          <a:xfrm>
            <a:off x="812782" y="4265861"/>
            <a:ext cx="5232400"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3.</a:t>
            </a:r>
            <a:r>
              <a:rPr lang="en-US" sz="1600" dirty="0">
                <a:solidFill>
                  <a:srgbClr val="14213D"/>
                </a:solidFill>
                <a:latin typeface="Public Sans" pitchFamily="34" charset="0"/>
                <a:ea typeface="Public Sans" pitchFamily="34" charset="-122"/>
                <a:cs typeface="Public Sans" pitchFamily="34" charset="-120"/>
              </a:rPr>
              <a:t> You report who you hear</a:t>
            </a:r>
            <a:endParaRPr lang="en-US" sz="1600" dirty="0">
              <a:latin typeface="Public Sans" charset="0"/>
              <a:ea typeface="Public Sans" charset="0"/>
              <a:cs typeface="Public Sans" charset="0"/>
            </a:endParaRPr>
          </a:p>
        </p:txBody>
      </p:sp>
      <p:sp>
        <p:nvSpPr>
          <p:cNvPr id="7" name="Text 5"/>
          <p:cNvSpPr/>
          <p:nvPr/>
        </p:nvSpPr>
        <p:spPr>
          <a:xfrm>
            <a:off x="6299173" y="4265861"/>
            <a:ext cx="5232446"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4.</a:t>
            </a:r>
            <a:r>
              <a:rPr lang="en-US" sz="1600" dirty="0">
                <a:solidFill>
                  <a:srgbClr val="14213D"/>
                </a:solidFill>
                <a:latin typeface="Public Sans" pitchFamily="34" charset="0"/>
                <a:ea typeface="Public Sans" pitchFamily="34" charset="-122"/>
                <a:cs typeface="Public Sans" pitchFamily="34" charset="-120"/>
              </a:rPr>
              <a:t> Watch Station Coverage fill in</a:t>
            </a:r>
            <a:endParaRPr lang="en-US" sz="1600" dirty="0">
              <a:latin typeface="Public Sans" charset="0"/>
              <a:ea typeface="Public Sans" charset="0"/>
              <a:cs typeface="Public Sans"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5C0"/>
                </a:solidFill>
                <a:latin typeface="Public Sans" pitchFamily="34" charset="0"/>
                <a:ea typeface="Public Sans" pitchFamily="34" charset="-122"/>
                <a:cs typeface="Public Sans" pitchFamily="34" charset="-120"/>
              </a:rPr>
              <a:t>AFTER TONIGHT</a:t>
            </a:r>
            <a:endParaRPr lang="en-US" sz="1200" dirty="0">
              <a:latin typeface="Public Sans" charset="0"/>
              <a:ea typeface="Public Sans" charset="0"/>
              <a:cs typeface="Public Sans" charset="0"/>
            </a:endParaRPr>
          </a:p>
        </p:txBody>
      </p:sp>
      <p:sp>
        <p:nvSpPr>
          <p:cNvPr id="3" name="Text 1"/>
          <p:cNvSpPr/>
          <p:nvPr>
            <p:ph type="title"/>
          </p:nvPr>
        </p:nvSpPr>
        <p:spPr>
          <a:xfrm>
            <a:off x="812782" y="1102271"/>
            <a:ext cx="10883429" cy="52830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Oswald" pitchFamily="34" charset="0"/>
                <a:ea typeface="Oswald" pitchFamily="34" charset="-122"/>
                <a:cs typeface="Oswald" pitchFamily="34" charset="-120"/>
              </a:rPr>
              <a:t>Help is in the Help menu</a:t>
            </a:r>
            <a:endParaRPr lang="en-US" sz="3600" dirty="0">
              <a:latin typeface="Oswald" charset="0"/>
              <a:ea typeface="Oswald" charset="0"/>
              <a:cs typeface="Oswald" charset="0"/>
            </a:endParaRPr>
          </a:p>
        </p:txBody>
      </p:sp>
      <p:sp>
        <p:nvSpPr>
          <p:cNvPr id="4" name="Shape 2"/>
          <p:cNvSpPr/>
          <p:nvPr/>
        </p:nvSpPr>
        <p:spPr>
          <a:xfrm>
            <a:off x="815957" y="1963911"/>
            <a:ext cx="5175259" cy="1236906"/>
          </a:xfrm>
          <a:prstGeom prst="roundRect">
            <a:avLst>
              <a:gd name="adj" fmla="val 7957"/>
            </a:avLst>
          </a:prstGeom>
          <a:solidFill>
            <a:srgbClr val="FCFCFA"/>
          </a:solidFill>
          <a:ln w="6350">
            <a:solidFill>
              <a:srgbClr val="DFE3E8"/>
            </a:solidFill>
            <a:prstDash val="solid"/>
          </a:ln>
        </p:spPr>
      </p:sp>
      <p:sp>
        <p:nvSpPr>
          <p:cNvPr id="5" name="Text 3"/>
          <p:cNvSpPr/>
          <p:nvPr/>
        </p:nvSpPr>
        <p:spPr>
          <a:xfrm>
            <a:off x="1072555" y="2195078"/>
            <a:ext cx="480192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User Guide</a:t>
            </a:r>
            <a:endParaRPr lang="en-US" sz="1600" dirty="0">
              <a:latin typeface="Public Sans" charset="0"/>
              <a:ea typeface="Public Sans" charset="0"/>
              <a:cs typeface="Public Sans" charset="0"/>
            </a:endParaRPr>
          </a:p>
        </p:txBody>
      </p:sp>
      <p:sp>
        <p:nvSpPr>
          <p:cNvPr id="6" name="Text 4"/>
          <p:cNvSpPr/>
          <p:nvPr/>
        </p:nvSpPr>
        <p:spPr>
          <a:xfrm>
            <a:off x="1072555" y="2489708"/>
            <a:ext cx="4915486"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Step-by-step pages for every role, at ectlogger.us/docs</a:t>
            </a:r>
            <a:endParaRPr lang="en-US" sz="1400" dirty="0">
              <a:latin typeface="Public Sans" charset="0"/>
              <a:ea typeface="Public Sans" charset="0"/>
              <a:cs typeface="Public Sans" charset="0"/>
            </a:endParaRPr>
          </a:p>
        </p:txBody>
      </p:sp>
      <p:sp>
        <p:nvSpPr>
          <p:cNvPr id="7" name="Shape 5"/>
          <p:cNvSpPr/>
          <p:nvPr/>
        </p:nvSpPr>
        <p:spPr>
          <a:xfrm>
            <a:off x="6200739" y="1963911"/>
            <a:ext cx="5175304" cy="1236906"/>
          </a:xfrm>
          <a:prstGeom prst="roundRect">
            <a:avLst>
              <a:gd name="adj" fmla="val 7957"/>
            </a:avLst>
          </a:prstGeom>
          <a:solidFill>
            <a:srgbClr val="FCFCFA"/>
          </a:solidFill>
          <a:ln w="6350">
            <a:solidFill>
              <a:srgbClr val="DFE3E8"/>
            </a:solidFill>
            <a:prstDash val="solid"/>
          </a:ln>
        </p:spPr>
      </p:sp>
      <p:sp>
        <p:nvSpPr>
          <p:cNvPr id="8" name="Text 6"/>
          <p:cNvSpPr/>
          <p:nvPr/>
        </p:nvSpPr>
        <p:spPr>
          <a:xfrm>
            <a:off x="6457336" y="2195078"/>
            <a:ext cx="4801972"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Training</a:t>
            </a:r>
            <a:endParaRPr lang="en-US" sz="1600" dirty="0">
              <a:latin typeface="Public Sans" charset="0"/>
              <a:ea typeface="Public Sans" charset="0"/>
              <a:cs typeface="Public Sans" charset="0"/>
            </a:endParaRPr>
          </a:p>
        </p:txBody>
      </p:sp>
      <p:sp>
        <p:nvSpPr>
          <p:cNvPr id="9" name="Text 7"/>
          <p:cNvSpPr/>
          <p:nvPr/>
        </p:nvSpPr>
        <p:spPr>
          <a:xfrm>
            <a:off x="6457336" y="2489708"/>
            <a:ext cx="4801972" cy="50534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Upcoming sessions, and videos at youtube.com/@ectlogger</a:t>
            </a:r>
            <a:endParaRPr lang="en-US" sz="1400" dirty="0">
              <a:latin typeface="Public Sans" charset="0"/>
              <a:ea typeface="Public Sans" charset="0"/>
              <a:cs typeface="Public Sans" charset="0"/>
            </a:endParaRPr>
          </a:p>
        </p:txBody>
      </p:sp>
      <p:sp>
        <p:nvSpPr>
          <p:cNvPr id="10" name="Shape 8"/>
          <p:cNvSpPr/>
          <p:nvPr/>
        </p:nvSpPr>
        <p:spPr>
          <a:xfrm>
            <a:off x="815957" y="3410347"/>
            <a:ext cx="5175259" cy="996932"/>
          </a:xfrm>
          <a:prstGeom prst="roundRect">
            <a:avLst>
              <a:gd name="adj" fmla="val 9873"/>
            </a:avLst>
          </a:prstGeom>
          <a:solidFill>
            <a:srgbClr val="FCFCFA"/>
          </a:solidFill>
          <a:ln w="6350">
            <a:solidFill>
              <a:srgbClr val="DFE3E8"/>
            </a:solidFill>
            <a:prstDash val="solid"/>
          </a:ln>
        </p:spPr>
      </p:sp>
      <p:sp>
        <p:nvSpPr>
          <p:cNvPr id="11" name="Text 9"/>
          <p:cNvSpPr/>
          <p:nvPr/>
        </p:nvSpPr>
        <p:spPr>
          <a:xfrm>
            <a:off x="1072555" y="3641502"/>
            <a:ext cx="480192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Start Walkthrough</a:t>
            </a:r>
            <a:endParaRPr lang="en-US" sz="1600" dirty="0">
              <a:latin typeface="Public Sans" charset="0"/>
              <a:ea typeface="Public Sans" charset="0"/>
              <a:cs typeface="Public Sans" charset="0"/>
            </a:endParaRPr>
          </a:p>
        </p:txBody>
      </p:sp>
      <p:sp>
        <p:nvSpPr>
          <p:cNvPr id="12" name="Text 10"/>
          <p:cNvSpPr/>
          <p:nvPr/>
        </p:nvSpPr>
        <p:spPr>
          <a:xfrm>
            <a:off x="1072555" y="3936132"/>
            <a:ext cx="4801925"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A short tour for operators, and one for net control</a:t>
            </a:r>
            <a:endParaRPr lang="en-US" sz="1400" dirty="0">
              <a:latin typeface="Public Sans" charset="0"/>
              <a:ea typeface="Public Sans" charset="0"/>
              <a:cs typeface="Public Sans" charset="0"/>
            </a:endParaRPr>
          </a:p>
        </p:txBody>
      </p:sp>
      <p:sp>
        <p:nvSpPr>
          <p:cNvPr id="13" name="Shape 11"/>
          <p:cNvSpPr/>
          <p:nvPr/>
        </p:nvSpPr>
        <p:spPr>
          <a:xfrm>
            <a:off x="6200739" y="3410347"/>
            <a:ext cx="5175304" cy="996932"/>
          </a:xfrm>
          <a:prstGeom prst="roundRect">
            <a:avLst>
              <a:gd name="adj" fmla="val 9873"/>
            </a:avLst>
          </a:prstGeom>
          <a:solidFill>
            <a:srgbClr val="FCFCFA"/>
          </a:solidFill>
          <a:ln w="6350">
            <a:solidFill>
              <a:srgbClr val="DFE3E8"/>
            </a:solidFill>
            <a:prstDash val="solid"/>
          </a:ln>
        </p:spPr>
      </p:sp>
      <p:sp>
        <p:nvSpPr>
          <p:cNvPr id="14" name="Text 12"/>
          <p:cNvSpPr/>
          <p:nvPr/>
        </p:nvSpPr>
        <p:spPr>
          <a:xfrm>
            <a:off x="6457336" y="3641502"/>
            <a:ext cx="4801972"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Public Sans" pitchFamily="34" charset="0"/>
                <a:ea typeface="Public Sans" pitchFamily="34" charset="-122"/>
                <a:cs typeface="Public Sans" pitchFamily="34" charset="-120"/>
              </a:rPr>
              <a:t>Submit Feedback</a:t>
            </a:r>
            <a:endParaRPr lang="en-US" sz="1600" dirty="0">
              <a:latin typeface="Public Sans" charset="0"/>
              <a:ea typeface="Public Sans" charset="0"/>
              <a:cs typeface="Public Sans" charset="0"/>
            </a:endParaRPr>
          </a:p>
        </p:txBody>
      </p:sp>
      <p:sp>
        <p:nvSpPr>
          <p:cNvPr id="15" name="Text 13"/>
          <p:cNvSpPr/>
          <p:nvPr/>
        </p:nvSpPr>
        <p:spPr>
          <a:xfrm>
            <a:off x="6457336" y="3936132"/>
            <a:ext cx="4801972" cy="26537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Public Sans" pitchFamily="34" charset="0"/>
                <a:ea typeface="Public Sans" pitchFamily="34" charset="-122"/>
                <a:cs typeface="Public Sans" pitchFamily="34" charset="-120"/>
              </a:rPr>
              <a:t>Found a bug or have an idea? It comes straight to me</a:t>
            </a:r>
            <a:endParaRPr lang="en-US" sz="1400" dirty="0">
              <a:latin typeface="Public Sans" charset="0"/>
              <a:ea typeface="Public Sans" charset="0"/>
              <a:cs typeface="Public Sans"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391" cy="6858000"/>
          </a:xfrm>
          <a:prstGeom prst="rect">
            <a:avLst/>
          </a:prstGeom>
          <a:solidFill>
            <a:srgbClr val="1E88E5"/>
          </a:solidFill>
          <a:ln/>
        </p:spPr>
      </p:sp>
      <p:sp>
        <p:nvSpPr>
          <p:cNvPr id="3" name="Text 1"/>
          <p:cNvSpPr/>
          <p:nvPr>
            <p:ph type="title"/>
          </p:nvPr>
        </p:nvSpPr>
        <p:spPr>
          <a:xfrm>
            <a:off x="812782" y="2270795"/>
            <a:ext cx="7246948"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Oswald" pitchFamily="34" charset="0"/>
                <a:ea typeface="Oswald" pitchFamily="34" charset="-122"/>
                <a:cs typeface="Oswald" pitchFamily="34" charset="-120"/>
              </a:rPr>
              <a:t>Questions?</a:t>
            </a:r>
            <a:endParaRPr lang="en-US" sz="6000" dirty="0">
              <a:latin typeface="Oswald" charset="0"/>
              <a:ea typeface="Oswald" charset="0"/>
              <a:cs typeface="Oswald" charset="0"/>
            </a:endParaRPr>
          </a:p>
        </p:txBody>
      </p:sp>
      <p:sp>
        <p:nvSpPr>
          <p:cNvPr id="4" name="Text 2"/>
          <p:cNvSpPr/>
          <p:nvPr/>
        </p:nvSpPr>
        <p:spPr>
          <a:xfrm>
            <a:off x="812782" y="3324858"/>
            <a:ext cx="7246948" cy="38858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5E3"/>
                </a:solidFill>
                <a:latin typeface="Public Sans" pitchFamily="34" charset="0"/>
                <a:ea typeface="Public Sans" pitchFamily="34" charset="-122"/>
                <a:cs typeface="Public Sans" pitchFamily="34" charset="-120"/>
              </a:rPr>
              <a:t>Thank you, and 73!</a:t>
            </a:r>
            <a:endParaRPr lang="en-US" sz="2200" dirty="0">
              <a:latin typeface="Public Sans" charset="0"/>
              <a:ea typeface="Public Sans" charset="0"/>
              <a:cs typeface="Public Sans" charset="0"/>
            </a:endParaRPr>
          </a:p>
        </p:txBody>
      </p:sp>
      <p:sp>
        <p:nvSpPr>
          <p:cNvPr id="5" name="Text 3"/>
          <p:cNvSpPr/>
          <p:nvPr/>
        </p:nvSpPr>
        <p:spPr>
          <a:xfrm>
            <a:off x="812782" y="3942048"/>
            <a:ext cx="7246948"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6F1"/>
                </a:solidFill>
                <a:latin typeface="Public Sans" pitchFamily="34" charset="0"/>
                <a:ea typeface="Public Sans" pitchFamily="34" charset="-122"/>
                <a:cs typeface="Public Sans" pitchFamily="34" charset="-120"/>
              </a:rPr>
              <a:t>Brad Brown Jr., KC1JMH</a:t>
            </a:r>
            <a:endParaRPr lang="en-US" sz="1600" dirty="0">
              <a:latin typeface="Public Sans" charset="0"/>
              <a:ea typeface="Public Sans" charset="0"/>
              <a:cs typeface="Public Sans" charset="0"/>
            </a:endParaRPr>
          </a:p>
        </p:txBody>
      </p:sp>
      <p:sp>
        <p:nvSpPr>
          <p:cNvPr id="6" name="Text 4"/>
          <p:cNvSpPr/>
          <p:nvPr/>
        </p:nvSpPr>
        <p:spPr>
          <a:xfrm>
            <a:off x="812782" y="4302708"/>
            <a:ext cx="7246948"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1C7"/>
                </a:solidFill>
                <a:latin typeface="Public Sans" pitchFamily="34" charset="0"/>
                <a:ea typeface="Public Sans" pitchFamily="34" charset="-122"/>
                <a:cs typeface="Public Sans" pitchFamily="34" charset="-120"/>
              </a:rPr>
              <a:t>app.ectlogger.us · ectlogger.us/docs</a:t>
            </a:r>
            <a:endParaRPr lang="en-US" sz="1600" dirty="0">
              <a:latin typeface="Public Sans" charset="0"/>
              <a:ea typeface="Public Sans" charset="0"/>
              <a:cs typeface="Public Sans" charset="0"/>
            </a:endParaRPr>
          </a:p>
        </p:txBody>
      </p:sp>
      <p:sp>
        <p:nvSpPr>
          <p:cNvPr id="7" name="Shape 5"/>
          <p:cNvSpPr/>
          <p:nvPr/>
        </p:nvSpPr>
        <p:spPr>
          <a:xfrm>
            <a:off x="8458218" y="1750033"/>
            <a:ext cx="2921000" cy="3357878"/>
          </a:xfrm>
          <a:prstGeom prst="roundRect">
            <a:avLst>
              <a:gd name="adj" fmla="val 5217"/>
            </a:avLst>
          </a:prstGeom>
          <a:solidFill>
            <a:srgbClr val="FCFCFA"/>
          </a:solidFill>
          <a:ln/>
        </p:spPr>
      </p:sp>
      <p:pic>
        <p:nvPicPr>
          <p:cNvPr id="8" name="Image 0" descr="QR code for app.ectlogger.us">    </p:cNvPr>
          <p:cNvPicPr>
            <a:picLocks noChangeAspect="1"/>
          </p:cNvPicPr>
          <p:nvPr/>
        </p:nvPicPr>
        <p:blipFill>
          <a:blip r:embed="rId1"/>
          <a:srcRect l="0" r="0" t="0" b="0"/>
          <a:stretch/>
        </p:blipFill>
        <p:spPr>
          <a:xfrm>
            <a:off x="8712218" y="2004033"/>
            <a:ext cx="2413000" cy="2413000"/>
          </a:xfrm>
          <a:prstGeom prst="rect">
            <a:avLst/>
          </a:prstGeom>
        </p:spPr>
      </p:pic>
      <p:sp>
        <p:nvSpPr>
          <p:cNvPr id="9" name="Text 6"/>
          <p:cNvSpPr/>
          <p:nvPr/>
        </p:nvSpPr>
        <p:spPr>
          <a:xfrm>
            <a:off x="8942464" y="4569420"/>
            <a:ext cx="1952463" cy="30988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app.ectlogger.us</a:t>
            </a:r>
            <a:endParaRPr lang="en-US" sz="1600" dirty="0">
              <a:latin typeface="Public Sans" charset="0"/>
              <a:ea typeface="Public Sans" charset="0"/>
              <a:cs typeface="Public Sans" charset="0"/>
            </a:endParaRPr>
          </a:p>
        </p:txBody>
      </p:sp>
    </p:spTree>
  </p:cSld>
  <p:clrMapOvr>
    <a:masterClrMapping/>
  </p:clrMapOvr>
</p:sld>
</file>

<file path=ppt/theme/theme1.xml><?xml version="1.0" encoding="utf-8"?>
<a:theme xmlns:a="http://schemas.openxmlformats.org/drawingml/2006/main" name="ECTLogger: WSSM Presentation">
  <a:themeElements>
    <a:clrScheme name="ECTLogger: WSSM Presentation">
      <a:dk1>
        <a:srgbClr val="14213D"/>
      </a:dk1>
      <a:lt1>
        <a:srgbClr val="F5F6F1"/>
      </a:lt1>
      <a:dk2>
        <a:srgbClr val="4C566A"/>
      </a:dk2>
      <a:lt2>
        <a:srgbClr val="DFE1DF"/>
      </a:lt2>
      <a:accent1>
        <a:srgbClr val="1565C0"/>
      </a:accent1>
      <a:accent2>
        <a:srgbClr val="1E88E5"/>
      </a:accent2>
      <a:accent3>
        <a:srgbClr val="7AB8F5"/>
      </a:accent3>
      <a:accent4>
        <a:srgbClr val="F2B33D"/>
      </a:accent4>
      <a:accent5>
        <a:srgbClr val="9FB1C7"/>
      </a:accent5>
      <a:accent6>
        <a:srgbClr val="4A5568"/>
      </a:accent6>
      <a:hlink>
        <a:srgbClr val="0563C1"/>
      </a:hlink>
      <a:folHlink>
        <a:srgbClr val="954F72"/>
      </a:folHlink>
    </a:clrScheme>
    <a:fontScheme name="ECTLogger: WSSM Presentation">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ECTLogger: WSSM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2026-10-30T23:49:15Z</dcterms:created>
  <dcterms:modified xsi:type="dcterms:W3CDTF">2026-10-30T23:49:15Z</dcterms:modified>
</cp:coreProperties>
</file>